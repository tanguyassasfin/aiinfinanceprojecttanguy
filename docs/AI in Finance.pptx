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64" r:id="rId2"/>
    <p:sldId id="257" r:id="rId3"/>
    <p:sldId id="258" r:id="rId4"/>
    <p:sldId id="260" r:id="rId5"/>
    <p:sldId id="265" r:id="rId6"/>
    <p:sldId id="261" r:id="rId7"/>
    <p:sldId id="262" r:id="rId8"/>
    <p:sldId id="266" r:id="rId9"/>
    <p:sldId id="263" r:id="rId10"/>
  </p:sldIdLst>
  <p:sldSz cx="12192000" cy="6858000"/>
  <p:notesSz cx="6858000" cy="9144000"/>
  <p:defaultTextStyle>
    <a:defPPr>
      <a:defRPr lang="en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  <a:srgbClr val="54823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4"/>
  </p:normalViewPr>
  <p:slideViewPr>
    <p:cSldViewPr snapToGrid="0" snapToObjects="1">
      <p:cViewPr varScale="1">
        <p:scale>
          <a:sx n="106" d="100"/>
          <a:sy n="106" d="100"/>
        </p:scale>
        <p:origin x="79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F9FA87-BFB2-A142-950E-9B3990FA81E7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8599B2-7088-CC47-8D0B-0F2A73AAABEC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661731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F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8599B2-7088-CC47-8D0B-0F2A73AAABEC}" type="slidenum">
              <a:rPr lang="en-FR" smtClean="0"/>
              <a:t>9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14673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9D3C7-6E82-8D4A-A052-3D2D2AE953D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07431AA-37CF-0D47-BEF4-3C0579AD8C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750AEA-89E3-5D4A-A71E-FE2513E014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21A4F-6F10-5F41-B94E-344D22705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2C64B-4342-664F-91E6-89E252E1B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53011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E2B0A-9049-0A40-9468-0C3A96DB68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10E941-3762-7140-BBB1-BCE8B62F80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9D398E-5084-4640-9C28-50A7F54A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523142-4733-2043-BD6E-7459A7E3BD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7FBB41-3E7D-3449-A090-F126AFCD8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693555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1C140-1E9C-E842-A848-AAE7C69FD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545BB-3685-2C4D-B425-CAB1FA5F4B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03AC4-1F77-AA49-9DAC-2105C5856B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2D469F-A706-784D-9662-51C4314BC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AC9222-746A-2E4C-A07A-198C174D7C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2291035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17DF3-7E0D-9447-9814-6BB4C4E976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AD6837-C686-ED4A-A9BE-932B05DFF0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5472FD-7E59-9844-9D5B-9C5C823A4D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F09278-691A-BA46-966C-43ACF3DEF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991C86-23A2-744B-9218-E46ABE0F5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FA5B59-EE1C-B848-9EE8-CC88AEA37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65216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37CC91-C630-B54F-9C14-4B160093AB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7F054-3EFC-8F4B-A7DC-3505934B20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8A0530-5CF3-C542-91F2-01BA97ED21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FFFC5B-6FEB-EB40-99D4-C62F3915BA6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6E6B53-2F26-5745-8394-24DDDEB7DA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81FDB7-3928-2B44-961A-1A05136BF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DC4C630-EA0C-2946-9F73-F0492FE86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1445B8-4EDB-7C42-A712-D8D9AC721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3369731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66C91B-4811-C941-ABC3-DD62C2881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B89B8B-1049-4F4C-AAD5-F6AEDF032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954814-7BB7-FA4C-9D1E-2B072F067B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7A3BE2-BAE3-8245-ACC8-4BCE814DC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428044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3AE7938-03C8-B642-B492-93FFB4BCA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BDB4FE-7B52-BA41-B1D4-C01FF27C8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ED1C88-C055-0A48-965D-26C10C299B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783973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C9320-6717-4D41-9D03-A3D28557A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B31CC4-F506-C842-BA0E-5BBF87DCE7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9B791C-EDA8-0048-9E24-B106225991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A63A29-318A-4A4F-9A45-EF980F04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F2EA80-7417-6A4B-BA1F-BE1DD058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695038-167F-A340-B713-DDBEE2DD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73178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6DB74-0EFB-F548-A526-8CBEBE6C4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AF04293-D15E-8F4C-8548-E2B981C62C0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86DEF5-6C8C-A141-B892-A65B1FD53D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EFB700-39F7-7E4C-ABDF-EB061F337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655D0C-7FEB-B647-A211-925AAA0E1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049E86-D173-E84C-B478-F12E4383E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865640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5AE18-FE3E-0F43-AFA5-71192BC8B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99FD589-1243-B644-A2AC-D42D6EBFA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6CF508-83B0-1942-B01B-0DB02F00B4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F48A-30D7-FA45-BF70-A18276FCB1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42B81D-C50F-5045-88F5-C8231B929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0589501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5D70C6E-86A6-AE41-BD43-765C82087C2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4E5011F-872F-BE47-8FAD-A7F35B2C6D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B80F5-A50A-2B43-AA4F-5B693738D5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62776-54D3-9446-9B79-276C7BB602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FC0C9D0-FCC9-ED4B-B6BE-E9F4A3546E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1197285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B875BE6-4075-7F46-AC06-238CB4DC4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F2CC1-C434-F041-B5C3-8C45F5F51B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7BAEBC-2535-6846-9431-A23A659279C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420BD5-E883-FD4F-A480-B6478609B021}" type="datetimeFigureOut">
              <a:rPr lang="en-FR" smtClean="0"/>
              <a:t>20/04/2026</a:t>
            </a:fld>
            <a:endParaRPr lang="en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84415-2159-4D43-8CA9-ADE0B95DD07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3771E7-963B-964D-8B40-F91BD42039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8E869C-FCDB-1447-A618-7357D4EB7D6B}" type="slidenum">
              <a:rPr lang="en-FR" smtClean="0"/>
              <a:t>‹#›</a:t>
            </a:fld>
            <a:endParaRPr lang="en-FR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3E5C0F53-CF6F-4A45-B2F7-404722790D5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01093" y="5753590"/>
            <a:ext cx="1309907" cy="8467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93455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hyperlink" Target="https://www.kaggle.com/datasets/uciml/default-of-credit-card-clients-dataset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6" name="Picture 2" descr="350+ images bancaires gratuites [4K] | Téléchargez des images gratuites sur  Unsplash">
            <a:extLst>
              <a:ext uri="{FF2B5EF4-FFF2-40B4-BE49-F238E27FC236}">
                <a16:creationId xmlns:a16="http://schemas.microsoft.com/office/drawing/2014/main" id="{99E0FE6D-E45D-BD40-91A4-BF344B0137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270000"/>
            <a:ext cx="12192000" cy="812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0081D4F-8FD4-9340-9D04-57D77A71DB17}"/>
              </a:ext>
            </a:extLst>
          </p:cNvPr>
          <p:cNvSpPr/>
          <p:nvPr/>
        </p:nvSpPr>
        <p:spPr>
          <a:xfrm>
            <a:off x="0" y="-1270000"/>
            <a:ext cx="12192000" cy="812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90000"/>
                </a:schemeClr>
              </a:gs>
              <a:gs pos="100000">
                <a:schemeClr val="tx1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FB4C69-5FAF-B94E-A0AC-1965EC5862F7}"/>
              </a:ext>
            </a:extLst>
          </p:cNvPr>
          <p:cNvSpPr txBox="1"/>
          <p:nvPr/>
        </p:nvSpPr>
        <p:spPr>
          <a:xfrm>
            <a:off x="1497279" y="1373091"/>
            <a:ext cx="6074397" cy="1219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GB" sz="3200" b="1" dirty="0">
                <a:solidFill>
                  <a:schemeClr val="bg1"/>
                </a:solidFill>
                <a:latin typeface="Cambria" panose="02040503050406030204" pitchFamily="18" charset="0"/>
              </a:rPr>
              <a:t>AI in Finance - Project</a:t>
            </a:r>
          </a:p>
          <a:p>
            <a:pPr>
              <a:lnSpc>
                <a:spcPct val="120000"/>
              </a:lnSpc>
            </a:pPr>
            <a:r>
              <a:rPr lang="en-GB" sz="3200" dirty="0">
                <a:solidFill>
                  <a:schemeClr val="bg1"/>
                </a:solidFill>
                <a:latin typeface="Cambria" panose="02040503050406030204" pitchFamily="18" charset="0"/>
              </a:rPr>
              <a:t>Credit Scoring </a:t>
            </a:r>
            <a:endParaRPr lang="en-FR" sz="32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0F8A26F-AF33-1049-9BD8-EDE8F15449E2}"/>
              </a:ext>
            </a:extLst>
          </p:cNvPr>
          <p:cNvSpPr txBox="1"/>
          <p:nvPr/>
        </p:nvSpPr>
        <p:spPr>
          <a:xfrm>
            <a:off x="1497279" y="5871734"/>
            <a:ext cx="38107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500" i="1" dirty="0">
                <a:solidFill>
                  <a:schemeClr val="bg1"/>
                </a:solidFill>
                <a:latin typeface="Cambria" panose="02040503050406030204" pitchFamily="18" charset="0"/>
              </a:rPr>
              <a:t>Tanguy CONVERSET</a:t>
            </a:r>
            <a:endParaRPr lang="en-FR" sz="1500" i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D7ACC7-4169-8F4E-A679-61881E300541}"/>
              </a:ext>
            </a:extLst>
          </p:cNvPr>
          <p:cNvSpPr txBox="1"/>
          <p:nvPr/>
        </p:nvSpPr>
        <p:spPr>
          <a:xfrm>
            <a:off x="6884021" y="5871734"/>
            <a:ext cx="381070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1500" i="1" dirty="0">
                <a:solidFill>
                  <a:schemeClr val="bg1"/>
                </a:solidFill>
                <a:latin typeface="Cambria" panose="02040503050406030204" pitchFamily="18" charset="0"/>
              </a:rPr>
              <a:t>Mardi 21 </a:t>
            </a:r>
            <a:r>
              <a:rPr lang="en-GB" sz="1500" i="1" dirty="0" err="1">
                <a:solidFill>
                  <a:schemeClr val="bg1"/>
                </a:solidFill>
                <a:latin typeface="Cambria" panose="02040503050406030204" pitchFamily="18" charset="0"/>
              </a:rPr>
              <a:t>avril</a:t>
            </a:r>
            <a:r>
              <a:rPr lang="en-GB" sz="1500" i="1" dirty="0">
                <a:solidFill>
                  <a:schemeClr val="bg1"/>
                </a:solidFill>
                <a:latin typeface="Cambria" panose="02040503050406030204" pitchFamily="18" charset="0"/>
              </a:rPr>
              <a:t> 2026</a:t>
            </a:r>
            <a:endParaRPr lang="en-FR" sz="1500" i="1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98454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168610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Introduction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EB5F6FC-59CF-804C-98A4-EA1704354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2623" y="1755784"/>
            <a:ext cx="356400" cy="356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E94FB3E-932A-CE49-BDEA-BA0153ECA659}"/>
              </a:ext>
            </a:extLst>
          </p:cNvPr>
          <p:cNvSpPr txBox="1"/>
          <p:nvPr/>
        </p:nvSpPr>
        <p:spPr>
          <a:xfrm>
            <a:off x="1619944" y="1674174"/>
            <a:ext cx="92352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00" dirty="0" err="1">
                <a:latin typeface="Cambria" panose="02040503050406030204" pitchFamily="18" charset="0"/>
              </a:rPr>
              <a:t>Construire</a:t>
            </a:r>
            <a:r>
              <a:rPr lang="en-GB" sz="1400" dirty="0">
                <a:latin typeface="Cambria" panose="02040503050406030204" pitchFamily="18" charset="0"/>
              </a:rPr>
              <a:t> des </a:t>
            </a:r>
            <a:r>
              <a:rPr lang="en-GB" sz="1400" dirty="0" err="1">
                <a:latin typeface="Cambria" panose="02040503050406030204" pitchFamily="18" charset="0"/>
              </a:rPr>
              <a:t>modèles</a:t>
            </a:r>
            <a:r>
              <a:rPr lang="en-GB" sz="1400" dirty="0">
                <a:latin typeface="Cambria" panose="02040503050406030204" pitchFamily="18" charset="0"/>
              </a:rPr>
              <a:t> de machine learning pour </a:t>
            </a:r>
            <a:r>
              <a:rPr lang="en-GB" sz="1400" dirty="0" err="1">
                <a:latin typeface="Cambria" panose="02040503050406030204" pitchFamily="18" charset="0"/>
              </a:rPr>
              <a:t>prédire</a:t>
            </a:r>
            <a:r>
              <a:rPr lang="en-GB" sz="1400" dirty="0">
                <a:latin typeface="Cambria" panose="02040503050406030204" pitchFamily="18" charset="0"/>
              </a:rPr>
              <a:t> la </a:t>
            </a:r>
            <a:r>
              <a:rPr lang="en-GB" sz="1400" dirty="0" err="1">
                <a:latin typeface="Cambria" panose="02040503050406030204" pitchFamily="18" charset="0"/>
              </a:rPr>
              <a:t>probabilité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défaut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paiement</a:t>
            </a:r>
            <a:r>
              <a:rPr lang="en-GB" sz="1400" dirty="0">
                <a:latin typeface="Cambria" panose="02040503050406030204" pitchFamily="18" charset="0"/>
              </a:rPr>
              <a:t> des clients </a:t>
            </a:r>
            <a:r>
              <a:rPr lang="en-GB" sz="1400" dirty="0" err="1">
                <a:latin typeface="Cambria" panose="02040503050406030204" pitchFamily="18" charset="0"/>
              </a:rPr>
              <a:t>à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partir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leurs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caractéristiques</a:t>
            </a:r>
            <a:r>
              <a:rPr lang="en-GB" sz="1400" dirty="0">
                <a:latin typeface="Cambria" panose="02040503050406030204" pitchFamily="18" charset="0"/>
              </a:rPr>
              <a:t> et de </a:t>
            </a:r>
            <a:r>
              <a:rPr lang="en-GB" sz="1400" dirty="0" err="1">
                <a:latin typeface="Cambria" panose="02040503050406030204" pitchFamily="18" charset="0"/>
              </a:rPr>
              <a:t>leur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comportement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paiement</a:t>
            </a:r>
            <a:endParaRPr lang="en-FR" sz="1400" dirty="0">
              <a:latin typeface="Cambria" panose="020405030504060302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90021F-A22F-DD4B-8FE2-81F9B7E72E4D}"/>
              </a:ext>
            </a:extLst>
          </p:cNvPr>
          <p:cNvSpPr txBox="1"/>
          <p:nvPr/>
        </p:nvSpPr>
        <p:spPr>
          <a:xfrm>
            <a:off x="1619944" y="3087803"/>
            <a:ext cx="9235290" cy="1345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400" b="1" dirty="0">
                <a:latin typeface="Cambria" panose="02040503050406030204" pitchFamily="18" charset="0"/>
              </a:rPr>
              <a:t>Aider les </a:t>
            </a:r>
            <a:r>
              <a:rPr lang="en-GB" sz="1400" b="1" dirty="0" err="1">
                <a:latin typeface="Cambria" panose="02040503050406030204" pitchFamily="18" charset="0"/>
              </a:rPr>
              <a:t>banques</a:t>
            </a:r>
            <a:r>
              <a:rPr lang="en-GB" sz="1400" b="1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à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évaluer</a:t>
            </a:r>
            <a:r>
              <a:rPr lang="en-GB" sz="1400" dirty="0">
                <a:latin typeface="Cambria" panose="02040503050406030204" pitchFamily="18" charset="0"/>
              </a:rPr>
              <a:t> le </a:t>
            </a:r>
            <a:r>
              <a:rPr lang="en-GB" sz="1400" dirty="0" err="1">
                <a:latin typeface="Cambria" panose="02040503050406030204" pitchFamily="18" charset="0"/>
              </a:rPr>
              <a:t>risque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crédit</a:t>
            </a:r>
            <a:endParaRPr lang="en-GB" sz="140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400" b="1" dirty="0" err="1">
                <a:latin typeface="Cambria" panose="02040503050406030204" pitchFamily="18" charset="0"/>
              </a:rPr>
              <a:t>Réduire</a:t>
            </a:r>
            <a:r>
              <a:rPr lang="en-GB" sz="1400" b="1" dirty="0">
                <a:latin typeface="Cambria" panose="02040503050406030204" pitchFamily="18" charset="0"/>
              </a:rPr>
              <a:t> les </a:t>
            </a:r>
            <a:r>
              <a:rPr lang="en-GB" sz="1400" b="1" dirty="0" err="1">
                <a:latin typeface="Cambria" panose="02040503050406030204" pitchFamily="18" charset="0"/>
              </a:rPr>
              <a:t>pertes</a:t>
            </a:r>
            <a:r>
              <a:rPr lang="en-GB" sz="1400" b="1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liées</a:t>
            </a:r>
            <a:r>
              <a:rPr lang="en-GB" sz="1400" dirty="0">
                <a:latin typeface="Cambria" panose="02040503050406030204" pitchFamily="18" charset="0"/>
              </a:rPr>
              <a:t> aux </a:t>
            </a:r>
            <a:r>
              <a:rPr lang="en-GB" sz="1400" dirty="0" err="1">
                <a:latin typeface="Cambria" panose="02040503050406030204" pitchFamily="18" charset="0"/>
              </a:rPr>
              <a:t>défauts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paiement</a:t>
            </a:r>
            <a:endParaRPr lang="en-GB" sz="140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400" b="1" dirty="0" err="1">
                <a:latin typeface="Cambria" panose="02040503050406030204" pitchFamily="18" charset="0"/>
              </a:rPr>
              <a:t>Améliorer</a:t>
            </a:r>
            <a:r>
              <a:rPr lang="en-GB" sz="1400" b="1" dirty="0">
                <a:latin typeface="Cambria" panose="02040503050406030204" pitchFamily="18" charset="0"/>
              </a:rPr>
              <a:t> les </a:t>
            </a:r>
            <a:r>
              <a:rPr lang="en-GB" sz="1400" b="1" dirty="0" err="1">
                <a:latin typeface="Cambria" panose="02040503050406030204" pitchFamily="18" charset="0"/>
              </a:rPr>
              <a:t>décisions</a:t>
            </a:r>
            <a:r>
              <a:rPr lang="en-GB" sz="1400" b="1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d’octroi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crédit</a:t>
            </a:r>
            <a:endParaRPr lang="en-GB" sz="1400" dirty="0">
              <a:latin typeface="Cambria" panose="020405030504060302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Ø"/>
            </a:pPr>
            <a:r>
              <a:rPr lang="en-GB" sz="1400" b="1" dirty="0" err="1">
                <a:latin typeface="Cambria" panose="02040503050406030204" pitchFamily="18" charset="0"/>
              </a:rPr>
              <a:t>Comprendre</a:t>
            </a:r>
            <a:r>
              <a:rPr lang="en-GB" sz="1400" dirty="0">
                <a:latin typeface="Cambria" panose="02040503050406030204" pitchFamily="18" charset="0"/>
              </a:rPr>
              <a:t> les </a:t>
            </a:r>
            <a:r>
              <a:rPr lang="en-GB" sz="1400" dirty="0" err="1">
                <a:latin typeface="Cambria" panose="02040503050406030204" pitchFamily="18" charset="0"/>
              </a:rPr>
              <a:t>facteurs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clés</a:t>
            </a:r>
            <a:r>
              <a:rPr lang="en-GB" sz="1400" dirty="0">
                <a:latin typeface="Cambria" panose="02040503050406030204" pitchFamily="18" charset="0"/>
              </a:rPr>
              <a:t> du </a:t>
            </a:r>
            <a:r>
              <a:rPr lang="en-GB" sz="1400" dirty="0" err="1">
                <a:latin typeface="Cambria" panose="02040503050406030204" pitchFamily="18" charset="0"/>
              </a:rPr>
              <a:t>risque</a:t>
            </a:r>
            <a:r>
              <a:rPr lang="en-GB" sz="1400" dirty="0">
                <a:latin typeface="Cambria" panose="02040503050406030204" pitchFamily="18" charset="0"/>
              </a:rPr>
              <a:t> client</a:t>
            </a:r>
            <a:endParaRPr lang="en-FR" sz="1400" dirty="0">
              <a:latin typeface="Cambria" panose="02040503050406030204" pitchFamily="18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D708AA1B-5431-3247-95C8-47E9034F38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2623" y="3580327"/>
            <a:ext cx="360000" cy="360000"/>
          </a:xfrm>
          <a:prstGeom prst="rect">
            <a:avLst/>
          </a:prstGeom>
        </p:spPr>
      </p:pic>
      <p:sp>
        <p:nvSpPr>
          <p:cNvPr id="16" name="Triangle 15">
            <a:extLst>
              <a:ext uri="{FF2B5EF4-FFF2-40B4-BE49-F238E27FC236}">
                <a16:creationId xmlns:a16="http://schemas.microsoft.com/office/drawing/2014/main" id="{5D89AC9C-CE1A-6C4B-8857-335319675900}"/>
              </a:ext>
            </a:extLst>
          </p:cNvPr>
          <p:cNvSpPr/>
          <p:nvPr/>
        </p:nvSpPr>
        <p:spPr>
          <a:xfrm rot="10800000">
            <a:off x="3118625" y="5285677"/>
            <a:ext cx="5954751" cy="457200"/>
          </a:xfrm>
          <a:prstGeom prst="triangl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38950ED-8A49-3440-B97F-6B974898D2CF}"/>
              </a:ext>
            </a:extLst>
          </p:cNvPr>
          <p:cNvSpPr/>
          <p:nvPr/>
        </p:nvSpPr>
        <p:spPr>
          <a:xfrm>
            <a:off x="1002000" y="2711609"/>
            <a:ext cx="10188000" cy="10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7261687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446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Dataset</a:t>
            </a:r>
          </a:p>
          <a:p>
            <a:r>
              <a:rPr lang="en-GB" sz="1600" i="1" dirty="0">
                <a:latin typeface="Cambria" panose="02040503050406030204" pitchFamily="18" charset="0"/>
              </a:rPr>
              <a:t>Default of Credit Card Clients Dataset (</a:t>
            </a:r>
            <a:r>
              <a:rPr lang="en-GB" sz="1600" i="1" dirty="0">
                <a:latin typeface="Cambria" panose="02040503050406030204" pitchFamily="18" charset="0"/>
                <a:hlinkClick r:id="rId2"/>
              </a:rPr>
              <a:t>sur Kaggle</a:t>
            </a:r>
            <a:r>
              <a:rPr lang="en-GB" sz="1600" i="1" dirty="0">
                <a:latin typeface="Cambria" panose="02040503050406030204" pitchFamily="18" charset="0"/>
              </a:rPr>
              <a:t>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872248-2636-5E4A-B2D0-4838EC713A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10" y="1489614"/>
            <a:ext cx="2731230" cy="483676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9377A29-DEE6-004C-98F4-B0C4610DDE60}"/>
              </a:ext>
            </a:extLst>
          </p:cNvPr>
          <p:cNvSpPr txBox="1"/>
          <p:nvPr/>
        </p:nvSpPr>
        <p:spPr>
          <a:xfrm>
            <a:off x="4731488" y="1966747"/>
            <a:ext cx="184274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4">
                    <a:lumMod val="75000"/>
                  </a:schemeClr>
                </a:solidFill>
                <a:latin typeface="Cambria" panose="02040503050406030204" pitchFamily="18" charset="0"/>
              </a:rPr>
              <a:t>Limite</a:t>
            </a:r>
            <a:r>
              <a:rPr lang="en-GB" sz="1200" dirty="0">
                <a:solidFill>
                  <a:schemeClr val="accent4">
                    <a:lumMod val="75000"/>
                  </a:schemeClr>
                </a:solidFill>
                <a:latin typeface="Cambria" panose="02040503050406030204" pitchFamily="18" charset="0"/>
              </a:rPr>
              <a:t> de </a:t>
            </a:r>
            <a:r>
              <a:rPr lang="en-GB" sz="1200" dirty="0" err="1">
                <a:solidFill>
                  <a:schemeClr val="accent4">
                    <a:lumMod val="75000"/>
                  </a:schemeClr>
                </a:solidFill>
                <a:latin typeface="Cambria" panose="02040503050406030204" pitchFamily="18" charset="0"/>
              </a:rPr>
              <a:t>crédit</a:t>
            </a:r>
            <a:r>
              <a:rPr lang="en-GB" sz="1200" dirty="0">
                <a:solidFill>
                  <a:schemeClr val="accent4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GB" sz="1200" dirty="0" err="1">
                <a:solidFill>
                  <a:schemeClr val="accent4">
                    <a:lumMod val="75000"/>
                  </a:schemeClr>
                </a:solidFill>
                <a:latin typeface="Cambria" panose="02040503050406030204" pitchFamily="18" charset="0"/>
              </a:rPr>
              <a:t>accordée</a:t>
            </a:r>
            <a:endParaRPr lang="en-GB" sz="1200" dirty="0">
              <a:solidFill>
                <a:schemeClr val="accent4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479DBC4A-8C9C-384F-9333-FC81282E6F67}"/>
              </a:ext>
            </a:extLst>
          </p:cNvPr>
          <p:cNvCxnSpPr>
            <a:cxnSpLocks/>
          </p:cNvCxnSpPr>
          <p:nvPr/>
        </p:nvCxnSpPr>
        <p:spPr>
          <a:xfrm>
            <a:off x="2679405" y="2105247"/>
            <a:ext cx="2052083" cy="0"/>
          </a:xfrm>
          <a:prstGeom prst="straightConnector1">
            <a:avLst/>
          </a:prstGeom>
          <a:ln w="9525">
            <a:solidFill>
              <a:schemeClr val="accent4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393C4C39-D0D1-394C-BDE0-320628979BEB}"/>
              </a:ext>
            </a:extLst>
          </p:cNvPr>
          <p:cNvCxnSpPr>
            <a:cxnSpLocks/>
          </p:cNvCxnSpPr>
          <p:nvPr/>
        </p:nvCxnSpPr>
        <p:spPr>
          <a:xfrm>
            <a:off x="2679405" y="3445678"/>
            <a:ext cx="2052083" cy="0"/>
          </a:xfrm>
          <a:prstGeom prst="straightConnector1">
            <a:avLst/>
          </a:prstGeom>
          <a:ln w="9525">
            <a:solidFill>
              <a:schemeClr val="accent6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97E9EBE7-8FBD-A64E-BD91-C6C9138B6799}"/>
              </a:ext>
            </a:extLst>
          </p:cNvPr>
          <p:cNvSpPr txBox="1"/>
          <p:nvPr/>
        </p:nvSpPr>
        <p:spPr>
          <a:xfrm>
            <a:off x="4731488" y="3307178"/>
            <a:ext cx="217521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Historique</a:t>
            </a:r>
            <a:r>
              <a:rPr lang="en-GB" sz="12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 de </a:t>
            </a:r>
            <a:r>
              <a:rPr lang="en-GB" sz="1200" dirty="0" err="1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remboursement</a:t>
            </a:r>
            <a:endParaRPr lang="en-GB" sz="1200" dirty="0">
              <a:solidFill>
                <a:schemeClr val="accent6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2C40F54-C845-EA44-8F60-8A37B114F74C}"/>
              </a:ext>
            </a:extLst>
          </p:cNvPr>
          <p:cNvSpPr/>
          <p:nvPr/>
        </p:nvSpPr>
        <p:spPr>
          <a:xfrm>
            <a:off x="1706446" y="2934766"/>
            <a:ext cx="557561" cy="1061294"/>
          </a:xfrm>
          <a:prstGeom prst="rect">
            <a:avLst/>
          </a:prstGeom>
          <a:solidFill>
            <a:srgbClr val="548235">
              <a:alpha val="20000"/>
            </a:srgb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F7FB661-74DE-244F-AA81-0BF6356B9167}"/>
              </a:ext>
            </a:extLst>
          </p:cNvPr>
          <p:cNvSpPr/>
          <p:nvPr/>
        </p:nvSpPr>
        <p:spPr>
          <a:xfrm>
            <a:off x="1710177" y="2043723"/>
            <a:ext cx="847043" cy="180613"/>
          </a:xfrm>
          <a:prstGeom prst="rect">
            <a:avLst/>
          </a:prstGeom>
          <a:solidFill>
            <a:schemeClr val="accent4">
              <a:lumMod val="75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576F0D1-34BC-B24C-924A-2E65D80FADE7}"/>
              </a:ext>
            </a:extLst>
          </p:cNvPr>
          <p:cNvSpPr/>
          <p:nvPr/>
        </p:nvSpPr>
        <p:spPr>
          <a:xfrm>
            <a:off x="1706911" y="4002990"/>
            <a:ext cx="847043" cy="1061294"/>
          </a:xfrm>
          <a:prstGeom prst="rect">
            <a:avLst/>
          </a:prstGeom>
          <a:solidFill>
            <a:schemeClr val="accent2">
              <a:lumMod val="75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B903563-5727-5540-AE33-F71484A46CD7}"/>
              </a:ext>
            </a:extLst>
          </p:cNvPr>
          <p:cNvSpPr/>
          <p:nvPr/>
        </p:nvSpPr>
        <p:spPr>
          <a:xfrm>
            <a:off x="1706911" y="5074082"/>
            <a:ext cx="781563" cy="1061294"/>
          </a:xfrm>
          <a:prstGeom prst="rect">
            <a:avLst/>
          </a:prstGeom>
          <a:solidFill>
            <a:schemeClr val="accent1">
              <a:lumMod val="75000"/>
              <a:alpha val="20000"/>
            </a:schemeClr>
          </a:solidFill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6A44C9F3-6179-0F47-859A-AB0317311485}"/>
              </a:ext>
            </a:extLst>
          </p:cNvPr>
          <p:cNvCxnSpPr>
            <a:cxnSpLocks/>
          </p:cNvCxnSpPr>
          <p:nvPr/>
        </p:nvCxnSpPr>
        <p:spPr>
          <a:xfrm>
            <a:off x="2679405" y="4435959"/>
            <a:ext cx="2052083" cy="0"/>
          </a:xfrm>
          <a:prstGeom prst="straightConnector1">
            <a:avLst/>
          </a:prstGeom>
          <a:ln w="9525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>
            <a:extLst>
              <a:ext uri="{FF2B5EF4-FFF2-40B4-BE49-F238E27FC236}">
                <a16:creationId xmlns:a16="http://schemas.microsoft.com/office/drawing/2014/main" id="{A7A81B32-457C-7747-8BC0-2231ED06CEEF}"/>
              </a:ext>
            </a:extLst>
          </p:cNvPr>
          <p:cNvSpPr txBox="1"/>
          <p:nvPr/>
        </p:nvSpPr>
        <p:spPr>
          <a:xfrm>
            <a:off x="4731488" y="4297459"/>
            <a:ext cx="2440861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</a:rPr>
              <a:t>Montant</a:t>
            </a:r>
            <a:r>
              <a:rPr lang="en-GB" sz="1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</a:rPr>
              <a:t> de la facture </a:t>
            </a:r>
            <a:r>
              <a:rPr lang="en-GB" sz="1200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</a:rPr>
              <a:t>chaque</a:t>
            </a:r>
            <a:r>
              <a:rPr lang="en-GB" sz="12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GB" sz="1200" dirty="0" err="1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</a:rPr>
              <a:t>mois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83E50A11-2E60-E347-8126-83CBE470B4B9}"/>
              </a:ext>
            </a:extLst>
          </p:cNvPr>
          <p:cNvCxnSpPr>
            <a:cxnSpLocks/>
          </p:cNvCxnSpPr>
          <p:nvPr/>
        </p:nvCxnSpPr>
        <p:spPr>
          <a:xfrm>
            <a:off x="2679405" y="5499167"/>
            <a:ext cx="2052083" cy="0"/>
          </a:xfrm>
          <a:prstGeom prst="straightConnector1">
            <a:avLst/>
          </a:prstGeom>
          <a:ln w="9525">
            <a:solidFill>
              <a:schemeClr val="accent1">
                <a:lumMod val="7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3DA0B58-DD6A-C542-8B86-7AB9A943F927}"/>
              </a:ext>
            </a:extLst>
          </p:cNvPr>
          <p:cNvSpPr txBox="1"/>
          <p:nvPr/>
        </p:nvSpPr>
        <p:spPr>
          <a:xfrm>
            <a:off x="4731488" y="5360667"/>
            <a:ext cx="2688300" cy="276999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GB" sz="12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Montant</a:t>
            </a:r>
            <a:r>
              <a:rPr lang="en-GB" sz="12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GB" sz="12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réellement</a:t>
            </a:r>
            <a:r>
              <a:rPr lang="en-GB" sz="12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GB" sz="12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payé</a:t>
            </a:r>
            <a:r>
              <a:rPr lang="en-GB" sz="12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GB" sz="12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chaque</a:t>
            </a:r>
            <a:r>
              <a:rPr lang="en-GB" sz="1200" dirty="0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 </a:t>
            </a:r>
            <a:r>
              <a:rPr lang="en-GB" sz="1200" dirty="0" err="1">
                <a:solidFill>
                  <a:schemeClr val="accent1">
                    <a:lumMod val="75000"/>
                  </a:schemeClr>
                </a:solidFill>
                <a:latin typeface="Cambria" panose="02040503050406030204" pitchFamily="18" charset="0"/>
              </a:rPr>
              <a:t>mois</a:t>
            </a:r>
            <a:endParaRPr lang="en-GB" sz="1200" dirty="0">
              <a:solidFill>
                <a:schemeClr val="accent1">
                  <a:lumMod val="75000"/>
                </a:schemeClr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29476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3271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Feature Engineering </a:t>
            </a:r>
            <a:r>
              <a:rPr lang="en-FR" sz="2000" dirty="0">
                <a:latin typeface="Cambria" panose="02040503050406030204" pitchFamily="18" charset="0"/>
              </a:rPr>
              <a:t>(1/2)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CB971-8300-3A4B-8AFA-604FAF92BC94}"/>
              </a:ext>
            </a:extLst>
          </p:cNvPr>
          <p:cNvSpPr txBox="1"/>
          <p:nvPr/>
        </p:nvSpPr>
        <p:spPr>
          <a:xfrm>
            <a:off x="483476" y="1298882"/>
            <a:ext cx="64008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Suppression de la colonne “ID”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Remplacement des catégories non interpretables dans la colonne EDUCATION et MARRIAGE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Création des variables 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400" dirty="0">
                <a:latin typeface="Cambria" panose="02040503050406030204" pitchFamily="18" charset="0"/>
              </a:rPr>
              <a:t>“</a:t>
            </a:r>
            <a:r>
              <a:rPr lang="en-FR" sz="1400" i="1" dirty="0">
                <a:latin typeface="Cambria" panose="02040503050406030204" pitchFamily="18" charset="0"/>
              </a:rPr>
              <a:t>utilisation_credit_moy</a:t>
            </a:r>
            <a:r>
              <a:rPr lang="en-FR" sz="1400" dirty="0">
                <a:latin typeface="Cambria" panose="02040503050406030204" pitchFamily="18" charset="0"/>
              </a:rPr>
              <a:t>” : moyenne des dépenses sur les 6 derniers mois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400" dirty="0">
                <a:latin typeface="Cambria" panose="02040503050406030204" pitchFamily="18" charset="0"/>
              </a:rPr>
              <a:t>“</a:t>
            </a:r>
            <a:r>
              <a:rPr lang="en-FR" sz="1400" i="1" dirty="0">
                <a:latin typeface="Cambria" panose="02040503050406030204" pitchFamily="18" charset="0"/>
              </a:rPr>
              <a:t>utilisation_credit_max</a:t>
            </a:r>
            <a:r>
              <a:rPr lang="en-FR" sz="1400" dirty="0">
                <a:latin typeface="Cambria" panose="02040503050406030204" pitchFamily="18" charset="0"/>
              </a:rPr>
              <a:t>” : montant maximum dépensé parmi les 6 derniers mois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FR" sz="1400" dirty="0">
                <a:latin typeface="Cambria" panose="02040503050406030204" pitchFamily="18" charset="0"/>
              </a:rPr>
              <a:t>“</a:t>
            </a:r>
            <a:r>
              <a:rPr lang="en-FR" sz="1400" i="1" dirty="0">
                <a:latin typeface="Cambria" panose="02040503050406030204" pitchFamily="18" charset="0"/>
              </a:rPr>
              <a:t>ratio_paiement</a:t>
            </a:r>
            <a:r>
              <a:rPr lang="en-FR" sz="1400" dirty="0">
                <a:latin typeface="Cambria" panose="02040503050406030204" pitchFamily="18" charset="0"/>
              </a:rPr>
              <a:t>” : ratio montrant si le client paie correctement ou non (1 si ok)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Remplacement des -inf et +inf par le chiffre 0</a:t>
            </a: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74EC00AE-8F22-FF48-9E27-7DE48B5E11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65908" y="1298882"/>
            <a:ext cx="4874146" cy="4397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BAE7CD9-1245-AA4E-8BA7-0F2AC8C249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6678" y="4330708"/>
            <a:ext cx="2543972" cy="151587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7774268-7862-384B-ACF9-B25A521EB3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3476" y="3773212"/>
            <a:ext cx="3484286" cy="263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96946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3271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Feature Engineering </a:t>
            </a:r>
            <a:r>
              <a:rPr lang="en-FR" sz="2000" dirty="0">
                <a:latin typeface="Cambria" panose="02040503050406030204" pitchFamily="18" charset="0"/>
              </a:rPr>
              <a:t>(2/2)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FCB971-8300-3A4B-8AFA-604FAF92BC94}"/>
              </a:ext>
            </a:extLst>
          </p:cNvPr>
          <p:cNvSpPr txBox="1"/>
          <p:nvPr/>
        </p:nvSpPr>
        <p:spPr>
          <a:xfrm>
            <a:off x="483476" y="1298882"/>
            <a:ext cx="561252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Transformation des variables ”AGE” en catégorie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Transformation des catégories “SEX”, “EDUCATION” et MARRIAGE” en valeur numérique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Traitement de l’équilibrage de la colonne “</a:t>
            </a:r>
            <a:r>
              <a:rPr lang="en-GB" sz="1400" dirty="0" err="1">
                <a:latin typeface="Cambria" panose="02040503050406030204" pitchFamily="18" charset="0"/>
              </a:rPr>
              <a:t>default.payment.next.month</a:t>
            </a:r>
            <a:r>
              <a:rPr lang="en-GB" sz="1400" dirty="0">
                <a:latin typeface="Cambria" panose="02040503050406030204" pitchFamily="18" charset="0"/>
              </a:rPr>
              <a:t>” :</a:t>
            </a:r>
            <a:endParaRPr lang="en-FR" sz="1400" dirty="0">
              <a:latin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3642698-ECB0-A742-B174-6D37BF7FB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4024" y="1914602"/>
            <a:ext cx="4728869" cy="2083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EDCF24F-7511-0044-BD0E-DBB64E8DFA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76" y="4565876"/>
            <a:ext cx="11031206" cy="1169551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71D2F7C-F6C4-7C49-853A-D8873544C5A4}"/>
              </a:ext>
            </a:extLst>
          </p:cNvPr>
          <p:cNvSpPr/>
          <p:nvPr/>
        </p:nvSpPr>
        <p:spPr>
          <a:xfrm>
            <a:off x="758234" y="4283930"/>
            <a:ext cx="10188000" cy="10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24952162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>
            <a:extLst>
              <a:ext uri="{FF2B5EF4-FFF2-40B4-BE49-F238E27FC236}">
                <a16:creationId xmlns:a16="http://schemas.microsoft.com/office/drawing/2014/main" id="{B4F689BF-DA31-6B42-992C-65BED83DDD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83051" y="2405831"/>
            <a:ext cx="2846473" cy="2743200"/>
          </a:xfrm>
          <a:prstGeom prst="rect">
            <a:avLst/>
          </a:prstGeom>
        </p:spPr>
      </p:pic>
      <p:sp>
        <p:nvSpPr>
          <p:cNvPr id="14" name="Freeform 13">
            <a:extLst>
              <a:ext uri="{FF2B5EF4-FFF2-40B4-BE49-F238E27FC236}">
                <a16:creationId xmlns:a16="http://schemas.microsoft.com/office/drawing/2014/main" id="{FBF5C067-BD3A-1E49-A7E0-F16FFF2D6B6F}"/>
              </a:ext>
            </a:extLst>
          </p:cNvPr>
          <p:cNvSpPr/>
          <p:nvPr/>
        </p:nvSpPr>
        <p:spPr>
          <a:xfrm>
            <a:off x="7367750" y="2432453"/>
            <a:ext cx="1415301" cy="2689957"/>
          </a:xfrm>
          <a:custGeom>
            <a:avLst/>
            <a:gdLst>
              <a:gd name="connsiteX0" fmla="*/ 0 w 1776248"/>
              <a:gd name="connsiteY0" fmla="*/ 2217682 h 2217682"/>
              <a:gd name="connsiteX1" fmla="*/ 1776248 w 1776248"/>
              <a:gd name="connsiteY1" fmla="*/ 2196662 h 2217682"/>
              <a:gd name="connsiteX2" fmla="*/ 1755227 w 1776248"/>
              <a:gd name="connsiteY2" fmla="*/ 0 h 2217682"/>
              <a:gd name="connsiteX3" fmla="*/ 31531 w 1776248"/>
              <a:gd name="connsiteY3" fmla="*/ 1439917 h 2217682"/>
              <a:gd name="connsiteX4" fmla="*/ 0 w 1776248"/>
              <a:gd name="connsiteY4" fmla="*/ 2217682 h 2217682"/>
              <a:gd name="connsiteX0" fmla="*/ 0 w 1776248"/>
              <a:gd name="connsiteY0" fmla="*/ 2217682 h 2217682"/>
              <a:gd name="connsiteX1" fmla="*/ 1776248 w 1776248"/>
              <a:gd name="connsiteY1" fmla="*/ 2196662 h 2217682"/>
              <a:gd name="connsiteX2" fmla="*/ 1755227 w 1776248"/>
              <a:gd name="connsiteY2" fmla="*/ 0 h 2217682"/>
              <a:gd name="connsiteX3" fmla="*/ 3104 w 1776248"/>
              <a:gd name="connsiteY3" fmla="*/ 1444655 h 2217682"/>
              <a:gd name="connsiteX4" fmla="*/ 0 w 1776248"/>
              <a:gd name="connsiteY4" fmla="*/ 2217682 h 2217682"/>
              <a:gd name="connsiteX0" fmla="*/ 0 w 1764217"/>
              <a:gd name="connsiteY0" fmla="*/ 2217682 h 2665893"/>
              <a:gd name="connsiteX1" fmla="*/ 1764217 w 1764217"/>
              <a:gd name="connsiteY1" fmla="*/ 2665893 h 2665893"/>
              <a:gd name="connsiteX2" fmla="*/ 1755227 w 1764217"/>
              <a:gd name="connsiteY2" fmla="*/ 0 h 2665893"/>
              <a:gd name="connsiteX3" fmla="*/ 3104 w 1764217"/>
              <a:gd name="connsiteY3" fmla="*/ 1444655 h 2665893"/>
              <a:gd name="connsiteX4" fmla="*/ 0 w 1764217"/>
              <a:gd name="connsiteY4" fmla="*/ 2217682 h 2665893"/>
              <a:gd name="connsiteX0" fmla="*/ 0 w 1764217"/>
              <a:gd name="connsiteY0" fmla="*/ 2205651 h 2653862"/>
              <a:gd name="connsiteX1" fmla="*/ 1764217 w 1764217"/>
              <a:gd name="connsiteY1" fmla="*/ 2653862 h 2653862"/>
              <a:gd name="connsiteX2" fmla="*/ 1550690 w 1764217"/>
              <a:gd name="connsiteY2" fmla="*/ 0 h 2653862"/>
              <a:gd name="connsiteX3" fmla="*/ 3104 w 1764217"/>
              <a:gd name="connsiteY3" fmla="*/ 1432624 h 2653862"/>
              <a:gd name="connsiteX4" fmla="*/ 0 w 1764217"/>
              <a:gd name="connsiteY4" fmla="*/ 2205651 h 2653862"/>
              <a:gd name="connsiteX0" fmla="*/ 0 w 1550746"/>
              <a:gd name="connsiteY0" fmla="*/ 2205651 h 2701988"/>
              <a:gd name="connsiteX1" fmla="*/ 1439365 w 1550746"/>
              <a:gd name="connsiteY1" fmla="*/ 2701988 h 2701988"/>
              <a:gd name="connsiteX2" fmla="*/ 1550690 w 1550746"/>
              <a:gd name="connsiteY2" fmla="*/ 0 h 2701988"/>
              <a:gd name="connsiteX3" fmla="*/ 3104 w 1550746"/>
              <a:gd name="connsiteY3" fmla="*/ 1432624 h 2701988"/>
              <a:gd name="connsiteX4" fmla="*/ 0 w 1550746"/>
              <a:gd name="connsiteY4" fmla="*/ 2205651 h 2701988"/>
              <a:gd name="connsiteX0" fmla="*/ 0 w 1550746"/>
              <a:gd name="connsiteY0" fmla="*/ 2205651 h 2930588"/>
              <a:gd name="connsiteX1" fmla="*/ 1439365 w 1550746"/>
              <a:gd name="connsiteY1" fmla="*/ 2930588 h 2930588"/>
              <a:gd name="connsiteX2" fmla="*/ 1550690 w 1550746"/>
              <a:gd name="connsiteY2" fmla="*/ 0 h 2930588"/>
              <a:gd name="connsiteX3" fmla="*/ 3104 w 1550746"/>
              <a:gd name="connsiteY3" fmla="*/ 1432624 h 2930588"/>
              <a:gd name="connsiteX4" fmla="*/ 0 w 1550746"/>
              <a:gd name="connsiteY4" fmla="*/ 2205651 h 2930588"/>
              <a:gd name="connsiteX0" fmla="*/ 0 w 1550736"/>
              <a:gd name="connsiteY0" fmla="*/ 2205651 h 2714020"/>
              <a:gd name="connsiteX1" fmla="*/ 1415301 w 1550736"/>
              <a:gd name="connsiteY1" fmla="*/ 2714020 h 2714020"/>
              <a:gd name="connsiteX2" fmla="*/ 1550690 w 1550736"/>
              <a:gd name="connsiteY2" fmla="*/ 0 h 2714020"/>
              <a:gd name="connsiteX3" fmla="*/ 3104 w 1550736"/>
              <a:gd name="connsiteY3" fmla="*/ 1432624 h 2714020"/>
              <a:gd name="connsiteX4" fmla="*/ 0 w 1550736"/>
              <a:gd name="connsiteY4" fmla="*/ 2205651 h 2714020"/>
              <a:gd name="connsiteX0" fmla="*/ 0 w 1415301"/>
              <a:gd name="connsiteY0" fmla="*/ 2398156 h 2906525"/>
              <a:gd name="connsiteX1" fmla="*/ 1415301 w 1415301"/>
              <a:gd name="connsiteY1" fmla="*/ 2906525 h 2906525"/>
              <a:gd name="connsiteX2" fmla="*/ 1382248 w 1415301"/>
              <a:gd name="connsiteY2" fmla="*/ 0 h 2906525"/>
              <a:gd name="connsiteX3" fmla="*/ 3104 w 1415301"/>
              <a:gd name="connsiteY3" fmla="*/ 1625129 h 2906525"/>
              <a:gd name="connsiteX4" fmla="*/ 0 w 1415301"/>
              <a:gd name="connsiteY4" fmla="*/ 2398156 h 2906525"/>
              <a:gd name="connsiteX0" fmla="*/ 0 w 1550736"/>
              <a:gd name="connsiteY0" fmla="*/ 2494409 h 3002778"/>
              <a:gd name="connsiteX1" fmla="*/ 1415301 w 1550736"/>
              <a:gd name="connsiteY1" fmla="*/ 3002778 h 3002778"/>
              <a:gd name="connsiteX2" fmla="*/ 1550690 w 1550736"/>
              <a:gd name="connsiteY2" fmla="*/ 0 h 3002778"/>
              <a:gd name="connsiteX3" fmla="*/ 3104 w 1550736"/>
              <a:gd name="connsiteY3" fmla="*/ 1721382 h 3002778"/>
              <a:gd name="connsiteX4" fmla="*/ 0 w 1550736"/>
              <a:gd name="connsiteY4" fmla="*/ 2494409 h 3002778"/>
              <a:gd name="connsiteX0" fmla="*/ 0 w 1415301"/>
              <a:gd name="connsiteY0" fmla="*/ 2181588 h 2689957"/>
              <a:gd name="connsiteX1" fmla="*/ 1415301 w 1415301"/>
              <a:gd name="connsiteY1" fmla="*/ 2689957 h 2689957"/>
              <a:gd name="connsiteX2" fmla="*/ 1406311 w 1415301"/>
              <a:gd name="connsiteY2" fmla="*/ 0 h 2689957"/>
              <a:gd name="connsiteX3" fmla="*/ 3104 w 1415301"/>
              <a:gd name="connsiteY3" fmla="*/ 1408561 h 2689957"/>
              <a:gd name="connsiteX4" fmla="*/ 0 w 1415301"/>
              <a:gd name="connsiteY4" fmla="*/ 2181588 h 268995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15301" h="2689957">
                <a:moveTo>
                  <a:pt x="0" y="2181588"/>
                </a:moveTo>
                <a:lnTo>
                  <a:pt x="1415301" y="2689957"/>
                </a:lnTo>
                <a:cubicBezTo>
                  <a:pt x="1412304" y="1801326"/>
                  <a:pt x="1409308" y="888631"/>
                  <a:pt x="1406311" y="0"/>
                </a:cubicBezTo>
                <a:lnTo>
                  <a:pt x="3104" y="1408561"/>
                </a:lnTo>
                <a:cubicBezTo>
                  <a:pt x="2069" y="1666237"/>
                  <a:pt x="1035" y="1923912"/>
                  <a:pt x="0" y="218158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25632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Modeling Approach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849A819-7A75-F145-B6CD-39C4675949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234" y="1398718"/>
            <a:ext cx="3160878" cy="108353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091B450-BD55-7F48-8600-9781047ED2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234" y="2839720"/>
            <a:ext cx="4991491" cy="348665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800F4D3-32B5-8240-AED0-08AA6963E7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43503" y="2979168"/>
            <a:ext cx="1354213" cy="334720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23CD93C8-46EE-2348-B897-7B45E1D718E1}"/>
              </a:ext>
            </a:extLst>
          </p:cNvPr>
          <p:cNvSpPr txBox="1"/>
          <p:nvPr/>
        </p:nvSpPr>
        <p:spPr>
          <a:xfrm>
            <a:off x="5885666" y="1298882"/>
            <a:ext cx="5612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La metric AUC </a:t>
            </a:r>
            <a:r>
              <a:rPr lang="en-GB" sz="1400" dirty="0" err="1">
                <a:latin typeface="Cambria" panose="02040503050406030204" pitchFamily="18" charset="0"/>
              </a:rPr>
              <a:t>est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une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mesure</a:t>
            </a:r>
            <a:r>
              <a:rPr lang="en-GB" sz="1400" dirty="0">
                <a:latin typeface="Cambria" panose="02040503050406030204" pitchFamily="18" charset="0"/>
              </a:rPr>
              <a:t> de la </a:t>
            </a:r>
            <a:r>
              <a:rPr lang="en-GB" sz="1400" dirty="0" err="1">
                <a:latin typeface="Cambria" panose="02040503050406030204" pitchFamily="18" charset="0"/>
              </a:rPr>
              <a:t>courbe</a:t>
            </a:r>
            <a:r>
              <a:rPr lang="en-GB" sz="1400" dirty="0">
                <a:latin typeface="Cambria" panose="02040503050406030204" pitchFamily="18" charset="0"/>
              </a:rPr>
              <a:t> ROC qui </a:t>
            </a:r>
            <a:r>
              <a:rPr lang="en-GB" sz="1400" dirty="0" err="1">
                <a:latin typeface="Cambria" panose="02040503050406030204" pitchFamily="18" charset="0"/>
              </a:rPr>
              <a:t>reflète</a:t>
            </a:r>
            <a:r>
              <a:rPr lang="en-GB" sz="1400" dirty="0">
                <a:latin typeface="Cambria" panose="02040503050406030204" pitchFamily="18" charset="0"/>
              </a:rPr>
              <a:t> la </a:t>
            </a:r>
            <a:r>
              <a:rPr lang="en-GB" sz="1400" dirty="0" err="1">
                <a:latin typeface="Cambria" panose="02040503050406030204" pitchFamily="18" charset="0"/>
              </a:rPr>
              <a:t>capacité</a:t>
            </a:r>
            <a:r>
              <a:rPr lang="en-GB" sz="1400" dirty="0">
                <a:latin typeface="Cambria" panose="02040503050406030204" pitchFamily="18" charset="0"/>
              </a:rPr>
              <a:t> du test </a:t>
            </a:r>
            <a:r>
              <a:rPr lang="en-GB" sz="1400" dirty="0" err="1">
                <a:latin typeface="Cambria" panose="02040503050406030204" pitchFamily="18" charset="0"/>
              </a:rPr>
              <a:t>à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distinguer</a:t>
            </a:r>
            <a:r>
              <a:rPr lang="en-GB" sz="1400" dirty="0">
                <a:latin typeface="Cambria" panose="02040503050406030204" pitchFamily="18" charset="0"/>
              </a:rPr>
              <a:t> entre les non </a:t>
            </a:r>
            <a:r>
              <a:rPr lang="en-GB" sz="1400" dirty="0" err="1">
                <a:latin typeface="Cambria" panose="02040503050406030204" pitchFamily="18" charset="0"/>
              </a:rPr>
              <a:t>défauts</a:t>
            </a:r>
            <a:r>
              <a:rPr lang="en-GB" sz="1400" dirty="0">
                <a:latin typeface="Cambria" panose="02040503050406030204" pitchFamily="18" charset="0"/>
              </a:rPr>
              <a:t> et les </a:t>
            </a:r>
            <a:r>
              <a:rPr lang="en-GB" sz="1400" dirty="0" err="1">
                <a:latin typeface="Cambria" panose="02040503050406030204" pitchFamily="18" charset="0"/>
              </a:rPr>
              <a:t>défauts</a:t>
            </a:r>
            <a:endParaRPr lang="en-FR" sz="1400" dirty="0">
              <a:latin typeface="Cambria" panose="020405030504060302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62C17A0-3395-2F49-BE35-B7EB6DF84FA9}"/>
              </a:ext>
            </a:extLst>
          </p:cNvPr>
          <p:cNvSpPr/>
          <p:nvPr/>
        </p:nvSpPr>
        <p:spPr>
          <a:xfrm>
            <a:off x="758234" y="2598821"/>
            <a:ext cx="4559724" cy="10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36522461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3394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Evalutation &amp; Results (1/2)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BB1A5-66B7-5641-A572-54602FA75C91}"/>
              </a:ext>
            </a:extLst>
          </p:cNvPr>
          <p:cNvSpPr txBox="1"/>
          <p:nvPr/>
        </p:nvSpPr>
        <p:spPr>
          <a:xfrm>
            <a:off x="483476" y="1298882"/>
            <a:ext cx="6292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FR" sz="1400" dirty="0">
                <a:latin typeface="Cambria" panose="02040503050406030204" pitchFamily="18" charset="0"/>
              </a:rPr>
              <a:t>Correction de l’overfitting (AUC d’environ 0,98 train/test) pour le modèle Random Forest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E80994A-9FF0-B34A-8D20-C5FF58D93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679" y="1991837"/>
            <a:ext cx="4057650" cy="10541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EF1EB60-8F04-FB4A-A13B-254759A7DF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8270" y="3278807"/>
            <a:ext cx="4057650" cy="279400"/>
          </a:xfrm>
          <a:prstGeom prst="rect">
            <a:avLst/>
          </a:prstGeom>
        </p:spPr>
      </p:pic>
      <p:sp>
        <p:nvSpPr>
          <p:cNvPr id="11" name="Right Arrow 10">
            <a:extLst>
              <a:ext uri="{FF2B5EF4-FFF2-40B4-BE49-F238E27FC236}">
                <a16:creationId xmlns:a16="http://schemas.microsoft.com/office/drawing/2014/main" id="{BEF9AD8A-355E-8E46-AF6D-ED6D9392F26B}"/>
              </a:ext>
            </a:extLst>
          </p:cNvPr>
          <p:cNvSpPr/>
          <p:nvPr/>
        </p:nvSpPr>
        <p:spPr>
          <a:xfrm>
            <a:off x="1017754" y="3347387"/>
            <a:ext cx="272908" cy="14224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61385C8-0C9B-8341-BAAE-BD4FC26684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2623" y="4024877"/>
            <a:ext cx="4057649" cy="22225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B29D407-9C8B-0142-86A3-89D9B558D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8462" y="4284800"/>
            <a:ext cx="3856552" cy="211235"/>
          </a:xfrm>
          <a:prstGeom prst="rect">
            <a:avLst/>
          </a:prstGeom>
        </p:spPr>
      </p:pic>
      <p:sp>
        <p:nvSpPr>
          <p:cNvPr id="16" name="Right Arrow 15">
            <a:extLst>
              <a:ext uri="{FF2B5EF4-FFF2-40B4-BE49-F238E27FC236}">
                <a16:creationId xmlns:a16="http://schemas.microsoft.com/office/drawing/2014/main" id="{4838CCB3-8073-2346-8B2B-15B76B958608}"/>
              </a:ext>
            </a:extLst>
          </p:cNvPr>
          <p:cNvSpPr/>
          <p:nvPr/>
        </p:nvSpPr>
        <p:spPr>
          <a:xfrm>
            <a:off x="1017754" y="4340717"/>
            <a:ext cx="272908" cy="14224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22C18AF-143C-1D48-A9AA-16D50517AC48}"/>
              </a:ext>
            </a:extLst>
          </p:cNvPr>
          <p:cNvSpPr/>
          <p:nvPr/>
        </p:nvSpPr>
        <p:spPr>
          <a:xfrm>
            <a:off x="1052623" y="4786799"/>
            <a:ext cx="4094706" cy="31141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75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FR" sz="900" dirty="0">
                <a:solidFill>
                  <a:schemeClr val="accent6">
                    <a:lumMod val="75000"/>
                  </a:schemeClr>
                </a:solidFill>
                <a:latin typeface="Cambria" panose="02040503050406030204" pitchFamily="18" charset="0"/>
              </a:rPr>
              <a:t>Réduction de l’overfitting en paramètrant le nombre de branche et de feuille à 15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61C4AA3-A537-4E44-A7C8-25125CE30D5A}"/>
              </a:ext>
            </a:extLst>
          </p:cNvPr>
          <p:cNvSpPr txBox="1"/>
          <p:nvPr/>
        </p:nvSpPr>
        <p:spPr>
          <a:xfrm>
            <a:off x="483476" y="5405229"/>
            <a:ext cx="64008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Calibration avec le </a:t>
            </a:r>
            <a:r>
              <a:rPr lang="en-GB" sz="1400" dirty="0" err="1">
                <a:latin typeface="Cambria" panose="02040503050406030204" pitchFamily="18" charset="0"/>
              </a:rPr>
              <a:t>modèle</a:t>
            </a:r>
            <a:r>
              <a:rPr lang="en-GB" sz="1400" dirty="0">
                <a:latin typeface="Cambria" panose="02040503050406030204" pitchFamily="18" charset="0"/>
              </a:rPr>
              <a:t> Random Forest</a:t>
            </a:r>
            <a:endParaRPr lang="en-FR" sz="1400" dirty="0">
              <a:latin typeface="Cambria" panose="020405030504060302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0313F7DD-AE6D-BE40-80D8-AC5BB497AB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98819" y="5879791"/>
            <a:ext cx="3856552" cy="211235"/>
          </a:xfrm>
          <a:prstGeom prst="rect">
            <a:avLst/>
          </a:prstGeom>
        </p:spPr>
      </p:pic>
      <p:sp>
        <p:nvSpPr>
          <p:cNvPr id="21" name="Right Arrow 20">
            <a:extLst>
              <a:ext uri="{FF2B5EF4-FFF2-40B4-BE49-F238E27FC236}">
                <a16:creationId xmlns:a16="http://schemas.microsoft.com/office/drawing/2014/main" id="{600C7043-97F7-5242-9E6A-52ABB5DEF66B}"/>
              </a:ext>
            </a:extLst>
          </p:cNvPr>
          <p:cNvSpPr/>
          <p:nvPr/>
        </p:nvSpPr>
        <p:spPr>
          <a:xfrm>
            <a:off x="1017754" y="5930856"/>
            <a:ext cx="272908" cy="142240"/>
          </a:xfrm>
          <a:prstGeom prst="rightArrow">
            <a:avLst/>
          </a:prstGeom>
          <a:solidFill>
            <a:schemeClr val="accent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</p:spTree>
    <p:extLst>
      <p:ext uri="{BB962C8B-B14F-4D97-AF65-F5344CB8AC3E}">
        <p14:creationId xmlns:p14="http://schemas.microsoft.com/office/powerpoint/2010/main" val="17687084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33947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Evalutation &amp; Results (2/2)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pic>
        <p:nvPicPr>
          <p:cNvPr id="7172" name="Picture 4">
            <a:extLst>
              <a:ext uri="{FF2B5EF4-FFF2-40B4-BE49-F238E27FC236}">
                <a16:creationId xmlns:a16="http://schemas.microsoft.com/office/drawing/2014/main" id="{A016455D-F14C-A541-98B4-68399D213A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1847461"/>
            <a:ext cx="4731976" cy="2714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2">
            <a:extLst>
              <a:ext uri="{FF2B5EF4-FFF2-40B4-BE49-F238E27FC236}">
                <a16:creationId xmlns:a16="http://schemas.microsoft.com/office/drawing/2014/main" id="{3C7FB66C-F348-B442-AB08-C10E4A567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7817" y="1847461"/>
            <a:ext cx="3702361" cy="4478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2662F8D3-1CB5-704F-BD01-27BD7D602122}"/>
              </a:ext>
            </a:extLst>
          </p:cNvPr>
          <p:cNvSpPr txBox="1"/>
          <p:nvPr/>
        </p:nvSpPr>
        <p:spPr>
          <a:xfrm>
            <a:off x="1237816" y="1298882"/>
            <a:ext cx="370236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Cambria" panose="02040503050406030204" pitchFamily="18" charset="0"/>
              </a:rPr>
              <a:t>SHAP avec le </a:t>
            </a:r>
            <a:r>
              <a:rPr lang="en-GB" sz="1400" dirty="0" err="1">
                <a:latin typeface="Cambria" panose="02040503050406030204" pitchFamily="18" charset="0"/>
              </a:rPr>
              <a:t>modèle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XGBoost</a:t>
            </a:r>
            <a:endParaRPr lang="en-FR" sz="1400" dirty="0">
              <a:latin typeface="Cambria" panose="02040503050406030204" pitchFamily="18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4B58FB7-E9A3-314E-9E5A-6E1A2AFFC77D}"/>
              </a:ext>
            </a:extLst>
          </p:cNvPr>
          <p:cNvSpPr txBox="1"/>
          <p:nvPr/>
        </p:nvSpPr>
        <p:spPr>
          <a:xfrm>
            <a:off x="6096000" y="1298881"/>
            <a:ext cx="47319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1400" dirty="0">
                <a:latin typeface="Cambria" panose="02040503050406030204" pitchFamily="18" charset="0"/>
              </a:rPr>
              <a:t>Feature Importance avec le </a:t>
            </a:r>
            <a:r>
              <a:rPr lang="en-GB" sz="1400" dirty="0" err="1">
                <a:latin typeface="Cambria" panose="02040503050406030204" pitchFamily="18" charset="0"/>
              </a:rPr>
              <a:t>modèle</a:t>
            </a:r>
            <a:r>
              <a:rPr lang="en-GB" sz="1400" dirty="0">
                <a:latin typeface="Cambria" panose="02040503050406030204" pitchFamily="18" charset="0"/>
              </a:rPr>
              <a:t> Random Forest</a:t>
            </a:r>
            <a:endParaRPr lang="en-FR" sz="1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37415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7DB9BC9-B361-E34D-8C1F-CCB7B7EDF211}"/>
              </a:ext>
            </a:extLst>
          </p:cNvPr>
          <p:cNvSpPr txBox="1"/>
          <p:nvPr/>
        </p:nvSpPr>
        <p:spPr>
          <a:xfrm>
            <a:off x="1052623" y="531626"/>
            <a:ext cx="148297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FR" sz="2000" b="1" dirty="0">
                <a:latin typeface="Cambria" panose="02040503050406030204" pitchFamily="18" charset="0"/>
              </a:rPr>
              <a:t>Conclusion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EC475C5-11BD-7D43-AB41-3D2DB2FD1A3A}"/>
              </a:ext>
            </a:extLst>
          </p:cNvPr>
          <p:cNvSpPr/>
          <p:nvPr/>
        </p:nvSpPr>
        <p:spPr>
          <a:xfrm>
            <a:off x="847001" y="688013"/>
            <a:ext cx="108000" cy="1080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R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62E417-943D-4B42-847F-CD3221172D65}"/>
              </a:ext>
            </a:extLst>
          </p:cNvPr>
          <p:cNvSpPr txBox="1"/>
          <p:nvPr/>
        </p:nvSpPr>
        <p:spPr>
          <a:xfrm>
            <a:off x="1988185" y="1298882"/>
            <a:ext cx="70053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 dirty="0">
                <a:latin typeface="Cambria" panose="02040503050406030204" pitchFamily="18" charset="0"/>
              </a:rPr>
              <a:t>Ce qui a </a:t>
            </a:r>
            <a:r>
              <a:rPr lang="en-GB" sz="1400" b="1" dirty="0" err="1">
                <a:latin typeface="Cambria" panose="02040503050406030204" pitchFamily="18" charset="0"/>
              </a:rPr>
              <a:t>fonctionné</a:t>
            </a:r>
            <a:r>
              <a:rPr lang="en-GB" sz="1400" b="1" dirty="0">
                <a:latin typeface="Cambria" panose="02040503050406030204" pitchFamily="18" charset="0"/>
              </a:rPr>
              <a:t> 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Le Random Forest a </a:t>
            </a:r>
            <a:r>
              <a:rPr lang="en-GB" sz="1400" dirty="0" err="1">
                <a:latin typeface="Cambria" panose="02040503050406030204" pitchFamily="18" charset="0"/>
              </a:rPr>
              <a:t>obtenu</a:t>
            </a:r>
            <a:r>
              <a:rPr lang="en-GB" sz="1400" dirty="0">
                <a:latin typeface="Cambria" panose="02040503050406030204" pitchFamily="18" charset="0"/>
              </a:rPr>
              <a:t> les </a:t>
            </a:r>
            <a:r>
              <a:rPr lang="en-GB" sz="1400" dirty="0" err="1">
                <a:latin typeface="Cambria" panose="02040503050406030204" pitchFamily="18" charset="0"/>
              </a:rPr>
              <a:t>meilleures</a:t>
            </a:r>
            <a:r>
              <a:rPr lang="en-GB" sz="1400" dirty="0">
                <a:latin typeface="Cambria" panose="02040503050406030204" pitchFamily="18" charset="0"/>
              </a:rPr>
              <a:t> performances (AUC </a:t>
            </a:r>
            <a:r>
              <a:rPr lang="en-GB" sz="1400" dirty="0" err="1">
                <a:latin typeface="Cambria" panose="02040503050406030204" pitchFamily="18" charset="0"/>
              </a:rPr>
              <a:t>d’environ</a:t>
            </a:r>
            <a:r>
              <a:rPr lang="en-GB" sz="1400" dirty="0">
                <a:latin typeface="Cambria" panose="02040503050406030204" pitchFamily="18" charset="0"/>
              </a:rPr>
              <a:t> 0,88)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Le feature engineering a </a:t>
            </a:r>
            <a:r>
              <a:rPr lang="en-GB" sz="1400" dirty="0" err="1">
                <a:latin typeface="Cambria" panose="02040503050406030204" pitchFamily="18" charset="0"/>
              </a:rPr>
              <a:t>amélioré</a:t>
            </a:r>
            <a:r>
              <a:rPr lang="en-GB" sz="1400" dirty="0">
                <a:latin typeface="Cambria" panose="02040503050406030204" pitchFamily="18" charset="0"/>
              </a:rPr>
              <a:t> la </a:t>
            </a:r>
            <a:r>
              <a:rPr lang="en-GB" sz="1400" dirty="0" err="1">
                <a:latin typeface="Cambria" panose="02040503050406030204" pitchFamily="18" charset="0"/>
              </a:rPr>
              <a:t>qualité</a:t>
            </a:r>
            <a:r>
              <a:rPr lang="en-GB" sz="1400" dirty="0">
                <a:latin typeface="Cambria" panose="02040503050406030204" pitchFamily="18" charset="0"/>
              </a:rPr>
              <a:t> des </a:t>
            </a:r>
            <a:r>
              <a:rPr lang="en-GB" sz="1400" dirty="0" err="1">
                <a:latin typeface="Cambria" panose="02040503050406030204" pitchFamily="18" charset="0"/>
              </a:rPr>
              <a:t>prédictions</a:t>
            </a:r>
            <a:endParaRPr lang="en-GB" sz="14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La gestion du </a:t>
            </a:r>
            <a:r>
              <a:rPr lang="en-GB" sz="1400" dirty="0" err="1">
                <a:latin typeface="Cambria" panose="02040503050406030204" pitchFamily="18" charset="0"/>
              </a:rPr>
              <a:t>déséquilibre</a:t>
            </a:r>
            <a:r>
              <a:rPr lang="en-GB" sz="1400" dirty="0">
                <a:latin typeface="Cambria" panose="02040503050406030204" pitchFamily="18" charset="0"/>
              </a:rPr>
              <a:t> a </a:t>
            </a:r>
            <a:r>
              <a:rPr lang="en-GB" sz="1400" dirty="0" err="1">
                <a:latin typeface="Cambria" panose="02040503050406030204" pitchFamily="18" charset="0"/>
              </a:rPr>
              <a:t>été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efficace</a:t>
            </a:r>
            <a:endParaRPr lang="en-GB" sz="1400" dirty="0">
              <a:latin typeface="Cambria" panose="020405030504060302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ABBEB33-B558-F246-8BD2-4F5830E55F47}"/>
              </a:ext>
            </a:extLst>
          </p:cNvPr>
          <p:cNvSpPr txBox="1"/>
          <p:nvPr/>
        </p:nvSpPr>
        <p:spPr>
          <a:xfrm>
            <a:off x="1988185" y="2571443"/>
            <a:ext cx="70053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 dirty="0">
                <a:latin typeface="Cambria" panose="02040503050406030204" pitchFamily="18" charset="0"/>
              </a:rPr>
              <a:t>Ce qui a </a:t>
            </a:r>
            <a:r>
              <a:rPr lang="en-GB" sz="1400" b="1" dirty="0" err="1">
                <a:latin typeface="Cambria" panose="02040503050406030204" pitchFamily="18" charset="0"/>
              </a:rPr>
              <a:t>moins</a:t>
            </a:r>
            <a:r>
              <a:rPr lang="en-GB" sz="1400" b="1" dirty="0">
                <a:latin typeface="Cambria" panose="02040503050406030204" pitchFamily="18" charset="0"/>
              </a:rPr>
              <a:t> bien </a:t>
            </a:r>
            <a:r>
              <a:rPr lang="en-GB" sz="1400" b="1" dirty="0" err="1">
                <a:latin typeface="Cambria" panose="02040503050406030204" pitchFamily="18" charset="0"/>
              </a:rPr>
              <a:t>fonctionné</a:t>
            </a:r>
            <a:r>
              <a:rPr lang="en-GB" sz="1400" b="1" dirty="0">
                <a:latin typeface="Cambria" panose="02040503050406030204" pitchFamily="18" charset="0"/>
              </a:rPr>
              <a:t> 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La </a:t>
            </a:r>
            <a:r>
              <a:rPr lang="en-GB" sz="1400" dirty="0" err="1">
                <a:latin typeface="Cambria" panose="02040503050406030204" pitchFamily="18" charset="0"/>
              </a:rPr>
              <a:t>régression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logistique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est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limitée</a:t>
            </a:r>
            <a:endParaRPr lang="en-GB" sz="14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Le MLP et le </a:t>
            </a:r>
            <a:r>
              <a:rPr lang="en-GB" sz="1400" dirty="0" err="1">
                <a:latin typeface="Cambria" panose="02040503050406030204" pitchFamily="18" charset="0"/>
              </a:rPr>
              <a:t>XGBoost</a:t>
            </a:r>
            <a:r>
              <a:rPr lang="en-GB" sz="1400" dirty="0">
                <a:latin typeface="Cambria" panose="02040503050406030204" pitchFamily="18" charset="0"/>
              </a:rPr>
              <a:t> ne </a:t>
            </a:r>
            <a:r>
              <a:rPr lang="en-GB" sz="1400" dirty="0" err="1">
                <a:latin typeface="Cambria" panose="02040503050406030204" pitchFamily="18" charset="0"/>
              </a:rPr>
              <a:t>sont</a:t>
            </a:r>
            <a:r>
              <a:rPr lang="en-GB" sz="1400" dirty="0">
                <a:latin typeface="Cambria" panose="02040503050406030204" pitchFamily="18" charset="0"/>
              </a:rPr>
              <a:t> pas optimal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SHAP </a:t>
            </a:r>
            <a:r>
              <a:rPr lang="en-GB" sz="1400" dirty="0" err="1">
                <a:latin typeface="Cambria" panose="02040503050406030204" pitchFamily="18" charset="0"/>
              </a:rPr>
              <a:t>est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coûteux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en</a:t>
            </a:r>
            <a:r>
              <a:rPr lang="en-GB" sz="1400" dirty="0">
                <a:latin typeface="Cambria" panose="02040503050406030204" pitchFamily="18" charset="0"/>
              </a:rPr>
              <a:t> temps de </a:t>
            </a:r>
            <a:r>
              <a:rPr lang="en-GB" sz="1400" dirty="0" err="1">
                <a:latin typeface="Cambria" panose="02040503050406030204" pitchFamily="18" charset="0"/>
              </a:rPr>
              <a:t>calcul</a:t>
            </a:r>
            <a:r>
              <a:rPr lang="en-GB" sz="1400" dirty="0">
                <a:latin typeface="Cambria" panose="02040503050406030204" pitchFamily="18" charset="0"/>
              </a:rPr>
              <a:t> avec Random Forest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B7602D-0DE9-DE48-991F-FFA4912862D0}"/>
              </a:ext>
            </a:extLst>
          </p:cNvPr>
          <p:cNvSpPr txBox="1"/>
          <p:nvPr/>
        </p:nvSpPr>
        <p:spPr>
          <a:xfrm>
            <a:off x="1988185" y="3844004"/>
            <a:ext cx="7005344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 dirty="0">
                <a:latin typeface="Cambria" panose="02040503050406030204" pitchFamily="18" charset="0"/>
              </a:rPr>
              <a:t>Ce </a:t>
            </a:r>
            <a:r>
              <a:rPr lang="en-GB" sz="1400" b="1" dirty="0" err="1">
                <a:latin typeface="Cambria" panose="02040503050406030204" pitchFamily="18" charset="0"/>
              </a:rPr>
              <a:t>qu’on</a:t>
            </a:r>
            <a:r>
              <a:rPr lang="en-GB" sz="1400" b="1" dirty="0">
                <a:latin typeface="Cambria" panose="02040503050406030204" pitchFamily="18" charset="0"/>
              </a:rPr>
              <a:t> </a:t>
            </a:r>
            <a:r>
              <a:rPr lang="en-GB" sz="1400" b="1" dirty="0" err="1">
                <a:latin typeface="Cambria" panose="02040503050406030204" pitchFamily="18" charset="0"/>
              </a:rPr>
              <a:t>peut</a:t>
            </a:r>
            <a:r>
              <a:rPr lang="en-GB" sz="1400" b="1" dirty="0">
                <a:latin typeface="Cambria" panose="02040503050406030204" pitchFamily="18" charset="0"/>
              </a:rPr>
              <a:t> </a:t>
            </a:r>
            <a:r>
              <a:rPr lang="en-GB" sz="1400" b="1" dirty="0" err="1">
                <a:latin typeface="Cambria" panose="02040503050406030204" pitchFamily="18" charset="0"/>
              </a:rPr>
              <a:t>retenir</a:t>
            </a:r>
            <a:r>
              <a:rPr lang="en-GB" sz="1400" b="1" dirty="0">
                <a:latin typeface="Cambria" panose="02040503050406030204" pitchFamily="18" charset="0"/>
              </a:rPr>
              <a:t> 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 err="1">
                <a:latin typeface="Cambria" panose="02040503050406030204" pitchFamily="18" charset="0"/>
              </a:rPr>
              <a:t>L’historique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paiement</a:t>
            </a:r>
            <a:r>
              <a:rPr lang="en-GB" sz="1400" dirty="0">
                <a:latin typeface="Cambria" panose="02040503050406030204" pitchFamily="18" charset="0"/>
              </a:rPr>
              <a:t> (variables PAY) </a:t>
            </a:r>
            <a:r>
              <a:rPr lang="en-GB" sz="1400" dirty="0" err="1">
                <a:latin typeface="Cambria" panose="02040503050406030204" pitchFamily="18" charset="0"/>
              </a:rPr>
              <a:t>est</a:t>
            </a:r>
            <a:r>
              <a:rPr lang="en-GB" sz="1400" dirty="0">
                <a:latin typeface="Cambria" panose="02040503050406030204" pitchFamily="18" charset="0"/>
              </a:rPr>
              <a:t> le </a:t>
            </a:r>
            <a:r>
              <a:rPr lang="en-GB" sz="1400" dirty="0" err="1">
                <a:latin typeface="Cambria" panose="02040503050406030204" pitchFamily="18" charset="0"/>
              </a:rPr>
              <a:t>facteur</a:t>
            </a:r>
            <a:r>
              <a:rPr lang="en-GB" sz="1400" dirty="0">
                <a:latin typeface="Cambria" panose="02040503050406030204" pitchFamily="18" charset="0"/>
              </a:rPr>
              <a:t> le plus </a:t>
            </a:r>
            <a:r>
              <a:rPr lang="en-GB" sz="1400" dirty="0" err="1">
                <a:latin typeface="Cambria" panose="02040503050406030204" pitchFamily="18" charset="0"/>
              </a:rPr>
              <a:t>déterminant</a:t>
            </a:r>
            <a:endParaRPr lang="en-GB" sz="1400" dirty="0">
              <a:latin typeface="Cambria" panose="02040503050406030204" pitchFamily="18" charset="0"/>
            </a:endParaRP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Les variables </a:t>
            </a:r>
            <a:r>
              <a:rPr lang="en-GB" sz="1400" dirty="0" err="1">
                <a:latin typeface="Cambria" panose="02040503050406030204" pitchFamily="18" charset="0"/>
              </a:rPr>
              <a:t>comportementales</a:t>
            </a:r>
            <a:r>
              <a:rPr lang="en-GB" sz="1400" dirty="0">
                <a:latin typeface="Cambria" panose="02040503050406030204" pitchFamily="18" charset="0"/>
              </a:rPr>
              <a:t> </a:t>
            </a:r>
            <a:r>
              <a:rPr lang="en-GB" sz="1400" dirty="0" err="1">
                <a:latin typeface="Cambria" panose="02040503050406030204" pitchFamily="18" charset="0"/>
              </a:rPr>
              <a:t>sont</a:t>
            </a:r>
            <a:r>
              <a:rPr lang="en-GB" sz="1400" dirty="0">
                <a:latin typeface="Cambria" panose="02040503050406030204" pitchFamily="18" charset="0"/>
              </a:rPr>
              <a:t> plus </a:t>
            </a:r>
            <a:r>
              <a:rPr lang="en-GB" sz="1400" dirty="0" err="1">
                <a:latin typeface="Cambria" panose="02040503050406030204" pitchFamily="18" charset="0"/>
              </a:rPr>
              <a:t>prédictives</a:t>
            </a:r>
            <a:r>
              <a:rPr lang="en-GB" sz="1400" dirty="0">
                <a:latin typeface="Cambria" panose="02040503050406030204" pitchFamily="18" charset="0"/>
              </a:rPr>
              <a:t> que les variables </a:t>
            </a:r>
            <a:r>
              <a:rPr lang="en-GB" sz="1400" dirty="0" err="1">
                <a:latin typeface="Cambria" panose="02040503050406030204" pitchFamily="18" charset="0"/>
              </a:rPr>
              <a:t>démographiques</a:t>
            </a:r>
            <a:endParaRPr lang="en-GB" sz="1400" dirty="0">
              <a:latin typeface="Cambria" panose="020405030504060302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E4205D1-7E93-4146-B2D8-BEC5CED3AD8B}"/>
              </a:ext>
            </a:extLst>
          </p:cNvPr>
          <p:cNvSpPr txBox="1"/>
          <p:nvPr/>
        </p:nvSpPr>
        <p:spPr>
          <a:xfrm>
            <a:off x="1988185" y="5116564"/>
            <a:ext cx="7005344" cy="8463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400" b="1" dirty="0">
                <a:latin typeface="Cambria" panose="02040503050406030204" pitchFamily="18" charset="0"/>
              </a:rPr>
              <a:t>Ce </a:t>
            </a:r>
            <a:r>
              <a:rPr lang="en-GB" sz="1400" b="1" dirty="0" err="1">
                <a:latin typeface="Cambria" panose="02040503050406030204" pitchFamily="18" charset="0"/>
              </a:rPr>
              <a:t>qu’on</a:t>
            </a:r>
            <a:r>
              <a:rPr lang="en-GB" sz="1400" b="1" dirty="0">
                <a:latin typeface="Cambria" panose="02040503050406030204" pitchFamily="18" charset="0"/>
              </a:rPr>
              <a:t> </a:t>
            </a:r>
            <a:r>
              <a:rPr lang="en-GB" sz="1400" b="1" dirty="0" err="1">
                <a:latin typeface="Cambria" panose="02040503050406030204" pitchFamily="18" charset="0"/>
              </a:rPr>
              <a:t>peut</a:t>
            </a:r>
            <a:r>
              <a:rPr lang="en-GB" sz="1400" b="1" dirty="0">
                <a:latin typeface="Cambria" panose="02040503050406030204" pitchFamily="18" charset="0"/>
              </a:rPr>
              <a:t> </a:t>
            </a:r>
            <a:r>
              <a:rPr lang="en-GB" sz="1400" b="1" dirty="0" err="1">
                <a:latin typeface="Cambria" panose="02040503050406030204" pitchFamily="18" charset="0"/>
              </a:rPr>
              <a:t>améliorer</a:t>
            </a:r>
            <a:r>
              <a:rPr lang="en-GB" sz="1400" b="1" dirty="0">
                <a:latin typeface="Cambria" panose="02040503050406030204" pitchFamily="18" charset="0"/>
              </a:rPr>
              <a:t> :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 err="1">
                <a:latin typeface="Cambria" panose="02040503050406030204" pitchFamily="18" charset="0"/>
              </a:rPr>
              <a:t>Création</a:t>
            </a:r>
            <a:r>
              <a:rPr lang="en-GB" sz="1400" dirty="0">
                <a:latin typeface="Cambria" panose="02040503050406030204" pitchFamily="18" charset="0"/>
              </a:rPr>
              <a:t> de </a:t>
            </a:r>
            <a:r>
              <a:rPr lang="en-GB" sz="1400" dirty="0" err="1">
                <a:latin typeface="Cambria" panose="02040503050406030204" pitchFamily="18" charset="0"/>
              </a:rPr>
              <a:t>nouvelles</a:t>
            </a:r>
            <a:r>
              <a:rPr lang="en-GB" sz="1400" dirty="0">
                <a:latin typeface="Cambria" panose="02040503050406030204" pitchFamily="18" charset="0"/>
              </a:rPr>
              <a:t> variables</a:t>
            </a:r>
          </a:p>
          <a:p>
            <a:pPr marL="285750" indent="-285750">
              <a:buFont typeface="Wingdings" pitchFamily="2" charset="2"/>
              <a:buChar char="Ø"/>
            </a:pPr>
            <a:r>
              <a:rPr lang="en-GB" sz="1400" dirty="0">
                <a:latin typeface="Cambria" panose="02040503050406030204" pitchFamily="18" charset="0"/>
              </a:rPr>
              <a:t>Tester des </a:t>
            </a:r>
            <a:r>
              <a:rPr lang="en-GB" sz="1400" dirty="0" err="1">
                <a:latin typeface="Cambria" panose="02040503050406030204" pitchFamily="18" charset="0"/>
              </a:rPr>
              <a:t>modèles</a:t>
            </a:r>
            <a:r>
              <a:rPr lang="en-GB" sz="1400" dirty="0">
                <a:latin typeface="Cambria" panose="02040503050406030204" pitchFamily="18" charset="0"/>
              </a:rPr>
              <a:t> plus </a:t>
            </a:r>
            <a:r>
              <a:rPr lang="en-GB" sz="1400" dirty="0" err="1">
                <a:latin typeface="Cambria" panose="02040503050406030204" pitchFamily="18" charset="0"/>
              </a:rPr>
              <a:t>avancés</a:t>
            </a:r>
            <a:endParaRPr lang="en-GB" sz="1400" dirty="0">
              <a:latin typeface="Cambria" panose="020405030504060302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F2248F-5A4D-6D45-B3C0-9FD8236B0B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5060" y="1650570"/>
            <a:ext cx="356400" cy="3564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24C8380-EF41-134A-849D-C2AF2C2276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5060" y="2924157"/>
            <a:ext cx="356400" cy="3564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A21594B-F220-BA42-8A44-BC88C7D3B2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5060" y="4197744"/>
            <a:ext cx="356400" cy="3564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F70B563-72EE-084B-AA7C-02625D524D9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5060" y="5361557"/>
            <a:ext cx="356400" cy="35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89339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406</TotalTime>
  <Words>430</Words>
  <Application>Microsoft Macintosh PowerPoint</Application>
  <PresentationFormat>Widescreen</PresentationFormat>
  <Paragraphs>53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Cambria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Tanguy CONVERSET</dc:creator>
  <cp:lastModifiedBy>Tanguy CONVERSET</cp:lastModifiedBy>
  <cp:revision>61</cp:revision>
  <dcterms:created xsi:type="dcterms:W3CDTF">2026-04-15T14:57:50Z</dcterms:created>
  <dcterms:modified xsi:type="dcterms:W3CDTF">2026-04-20T20:45:37Z</dcterms:modified>
</cp:coreProperties>
</file>