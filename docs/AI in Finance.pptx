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4" r:id="rId2"/>
    <p:sldId id="257" r:id="rId3"/>
    <p:sldId id="258" r:id="rId4"/>
    <p:sldId id="260" r:id="rId5"/>
    <p:sldId id="265" r:id="rId6"/>
    <p:sldId id="261" r:id="rId7"/>
    <p:sldId id="262" r:id="rId8"/>
    <p:sldId id="266" r:id="rId9"/>
    <p:sldId id="263" r:id="rId10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5482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0"/>
  </p:normalViewPr>
  <p:slideViewPr>
    <p:cSldViewPr snapToGrid="0" snapToObjects="1">
      <p:cViewPr>
        <p:scale>
          <a:sx n="115" d="100"/>
          <a:sy n="115" d="100"/>
        </p:scale>
        <p:origin x="472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9FA87-BFB2-A142-950E-9B3990FA81E7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599B2-7088-CC47-8D0B-0F2A73AAABEC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66173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599B2-7088-CC47-8D0B-0F2A73AAABEC}" type="slidenum">
              <a:rPr lang="en-FR" smtClean="0"/>
              <a:t>9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46735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D3C7-6E82-8D4A-A052-3D2D2AE95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7431AA-37CF-0D47-BEF4-3C0579AD8C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50AEA-89E3-5D4A-A71E-FE2513E01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21A4F-6F10-5F41-B94E-344D22705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2C64B-4342-664F-91E6-89E252E1B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53011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E2B0A-9049-0A40-9468-0C3A96DB6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0E941-3762-7140-BBB1-BCE8B62F8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D398E-5084-4640-9C28-50A7F54AF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23142-4733-2043-BD6E-7459A7E3B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FBB41-3E7D-3449-A090-F126AFCD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693555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1C140-1E9C-E842-A848-AAE7C69FD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545BB-3685-2C4D-B425-CAB1FA5F4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03AC4-1F77-AA49-9DAC-2105C5856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D469F-A706-784D-9662-51C4314BC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C9222-746A-2E4C-A07A-198C174D7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22910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17DF3-7E0D-9447-9814-6BB4C4E97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D6837-C686-ED4A-A9BE-932B05DFF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5472FD-7E59-9844-9D5B-9C5C823A4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09278-691A-BA46-966C-43ACF3DEF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91C86-23A2-744B-9218-E46ABE0F5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A5B59-EE1C-B848-9EE8-CC88AEA3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65216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7CC91-C630-B54F-9C14-4B160093A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27F054-3EFC-8F4B-A7DC-3505934B2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8A0530-5CF3-C542-91F2-01BA97ED2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FFFC5B-6FEB-EB40-99D4-C62F3915BA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6E6B53-2F26-5745-8394-24DDDEB7D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81FDB7-3928-2B44-961A-1A05136BF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C4C630-EA0C-2946-9F73-F0492FE8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1445B8-4EDB-7C42-A712-D8D9AC72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336973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6C91B-4811-C941-ABC3-DD62C288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B89B8B-1049-4F4C-AAD5-F6AEDF032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954814-7BB7-FA4C-9D1E-2B072F06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A3BE2-BAE3-8245-ACC8-4BCE814DC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42804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AE7938-03C8-B642-B492-93FFB4BCA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DB4FE-7B52-BA41-B1D4-C01FF27C8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D1C88-C055-0A48-965D-26C10C299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78397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C9320-6717-4D41-9D03-A3D28557A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31CC4-F506-C842-BA0E-5BBF87DCE7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9B791C-EDA8-0048-9E24-B106225991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63A29-318A-4A4F-9A45-EF980F049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2EA80-7417-6A4B-BA1F-BE1DD058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695038-167F-A340-B713-DDBEE2DD4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31787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6DB74-0EFB-F548-A526-8CBEBE6C4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F04293-D15E-8F4C-8548-E2B981C62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86DEF5-6C8C-A141-B892-A65B1FD53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EFB700-39F7-7E4C-ABDF-EB061F337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655D0C-7FEB-B647-A211-925AAA0E1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049E86-D173-E84C-B478-F12E4383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865640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5AE18-FE3E-0F43-AFA5-71192BC8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FD589-1243-B644-A2AC-D42D6EBFA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6CF508-83B0-1942-B01B-0DB02F00B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EF48A-30D7-FA45-BF70-A18276FCB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2B81D-C50F-5045-88F5-C8231B929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05895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D70C6E-86A6-AE41-BD43-765C82087C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E5011F-872F-BE47-8FAD-A7F35B2C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B80F5-A50A-2B43-AA4F-5B693738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62776-54D3-9446-9B79-276C7BB60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0C9D0-FCC9-ED4B-B6BE-E9F4A3546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19728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875BE6-4075-7F46-AC06-238CB4DC4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F2CC1-C434-F041-B5C3-8C45F5F51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EBC-2535-6846-9431-A23A65927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420BD5-E883-FD4F-A480-B6478609B021}" type="datetimeFigureOut">
              <a:rPr lang="en-FR" smtClean="0"/>
              <a:t>18/04/2026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84415-2159-4D43-8CA9-ADE0B95DD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771E7-963B-964D-8B40-F91BD4203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E869C-FCDB-1447-A618-7357D4EB7D6B}" type="slidenum">
              <a:rPr lang="en-FR" smtClean="0"/>
              <a:t>‹#›</a:t>
            </a:fld>
            <a:endParaRPr lang="en-FR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E5C0F53-CF6F-4A45-B2F7-404722790D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1093" y="5753590"/>
            <a:ext cx="1309907" cy="846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345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kaggle.com/datasets/uciml/default-of-credit-card-clients-datase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350+ images bancaires gratuites [4K] | Téléchargez des images gratuites sur  Unsplash">
            <a:extLst>
              <a:ext uri="{FF2B5EF4-FFF2-40B4-BE49-F238E27FC236}">
                <a16:creationId xmlns:a16="http://schemas.microsoft.com/office/drawing/2014/main" id="{99E0FE6D-E45D-BD40-91A4-BF344B013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70000"/>
            <a:ext cx="12192000" cy="812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081D4F-8FD4-9340-9D04-57D77A71DB17}"/>
              </a:ext>
            </a:extLst>
          </p:cNvPr>
          <p:cNvSpPr/>
          <p:nvPr/>
        </p:nvSpPr>
        <p:spPr>
          <a:xfrm>
            <a:off x="0" y="-1270000"/>
            <a:ext cx="12192000" cy="812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90000"/>
                </a:schemeClr>
              </a:gs>
              <a:gs pos="100000">
                <a:schemeClr val="tx1">
                  <a:alpha val="2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B4C69-5FAF-B94E-A0AC-1965EC5862F7}"/>
              </a:ext>
            </a:extLst>
          </p:cNvPr>
          <p:cNvSpPr txBox="1"/>
          <p:nvPr/>
        </p:nvSpPr>
        <p:spPr>
          <a:xfrm>
            <a:off x="1497279" y="1373091"/>
            <a:ext cx="6074397" cy="1219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3200" b="1" dirty="0">
                <a:solidFill>
                  <a:schemeClr val="bg1"/>
                </a:solidFill>
                <a:latin typeface="Cambria" panose="02040503050406030204" pitchFamily="18" charset="0"/>
              </a:rPr>
              <a:t>AI in Finance - Project</a:t>
            </a:r>
          </a:p>
          <a:p>
            <a:pPr>
              <a:lnSpc>
                <a:spcPct val="120000"/>
              </a:lnSpc>
            </a:pPr>
            <a:r>
              <a:rPr lang="en-GB" sz="3200" dirty="0">
                <a:solidFill>
                  <a:schemeClr val="bg1"/>
                </a:solidFill>
                <a:latin typeface="Cambria" panose="02040503050406030204" pitchFamily="18" charset="0"/>
              </a:rPr>
              <a:t>Credit Scoring </a:t>
            </a:r>
            <a:endParaRPr lang="en-FR" sz="3200" dirty="0">
              <a:solidFill>
                <a:schemeClr val="bg1"/>
              </a:solidFill>
              <a:latin typeface="Cambria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8A26F-AF33-1049-9BD8-EDE8F15449E2}"/>
              </a:ext>
            </a:extLst>
          </p:cNvPr>
          <p:cNvSpPr txBox="1"/>
          <p:nvPr/>
        </p:nvSpPr>
        <p:spPr>
          <a:xfrm>
            <a:off x="1497279" y="5871734"/>
            <a:ext cx="381070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500" i="1" dirty="0">
                <a:solidFill>
                  <a:schemeClr val="bg1"/>
                </a:solidFill>
                <a:latin typeface="Cambria" panose="02040503050406030204" pitchFamily="18" charset="0"/>
              </a:rPr>
              <a:t>Tanguy CONVERSET</a:t>
            </a:r>
            <a:endParaRPr lang="en-FR" sz="1500" i="1" dirty="0">
              <a:solidFill>
                <a:schemeClr val="bg1"/>
              </a:solidFill>
              <a:latin typeface="Cambria" panose="020405030504060302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7ACC7-4169-8F4E-A679-61881E300541}"/>
              </a:ext>
            </a:extLst>
          </p:cNvPr>
          <p:cNvSpPr txBox="1"/>
          <p:nvPr/>
        </p:nvSpPr>
        <p:spPr>
          <a:xfrm>
            <a:off x="6884021" y="5871734"/>
            <a:ext cx="381070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500" i="1" dirty="0">
                <a:solidFill>
                  <a:schemeClr val="bg1"/>
                </a:solidFill>
                <a:latin typeface="Cambria" panose="02040503050406030204" pitchFamily="18" charset="0"/>
              </a:rPr>
              <a:t>Mardi 21 </a:t>
            </a:r>
            <a:r>
              <a:rPr lang="en-GB" sz="1500" i="1" dirty="0" err="1">
                <a:solidFill>
                  <a:schemeClr val="bg1"/>
                </a:solidFill>
                <a:latin typeface="Cambria" panose="02040503050406030204" pitchFamily="18" charset="0"/>
              </a:rPr>
              <a:t>avril</a:t>
            </a:r>
            <a:r>
              <a:rPr lang="en-GB" sz="1500" i="1" dirty="0">
                <a:solidFill>
                  <a:schemeClr val="bg1"/>
                </a:solidFill>
                <a:latin typeface="Cambria" panose="02040503050406030204" pitchFamily="18" charset="0"/>
              </a:rPr>
              <a:t> 2026</a:t>
            </a:r>
            <a:endParaRPr lang="en-FR" sz="1500" i="1" dirty="0">
              <a:solidFill>
                <a:schemeClr val="bg1"/>
              </a:solidFill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845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1686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B5F6FC-59CF-804C-98A4-EA1704354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623" y="1755784"/>
            <a:ext cx="356400" cy="356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E94FB3E-932A-CE49-BDEA-BA0153ECA659}"/>
              </a:ext>
            </a:extLst>
          </p:cNvPr>
          <p:cNvSpPr txBox="1"/>
          <p:nvPr/>
        </p:nvSpPr>
        <p:spPr>
          <a:xfrm>
            <a:off x="1619944" y="1674174"/>
            <a:ext cx="9235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>
                <a:latin typeface="Cambria" panose="02040503050406030204" pitchFamily="18" charset="0"/>
              </a:rPr>
              <a:t>Construire</a:t>
            </a:r>
            <a:r>
              <a:rPr lang="en-GB" sz="1400" dirty="0">
                <a:latin typeface="Cambria" panose="02040503050406030204" pitchFamily="18" charset="0"/>
              </a:rPr>
              <a:t> des </a:t>
            </a:r>
            <a:r>
              <a:rPr lang="en-GB" sz="1400" dirty="0" err="1">
                <a:latin typeface="Cambria" panose="02040503050406030204" pitchFamily="18" charset="0"/>
              </a:rPr>
              <a:t>modèles</a:t>
            </a:r>
            <a:r>
              <a:rPr lang="en-GB" sz="1400" dirty="0">
                <a:latin typeface="Cambria" panose="02040503050406030204" pitchFamily="18" charset="0"/>
              </a:rPr>
              <a:t> de machine learning pour </a:t>
            </a:r>
            <a:r>
              <a:rPr lang="en-GB" sz="1400" dirty="0" err="1">
                <a:latin typeface="Cambria" panose="02040503050406030204" pitchFamily="18" charset="0"/>
              </a:rPr>
              <a:t>prédire</a:t>
            </a:r>
            <a:r>
              <a:rPr lang="en-GB" sz="1400" dirty="0">
                <a:latin typeface="Cambria" panose="02040503050406030204" pitchFamily="18" charset="0"/>
              </a:rPr>
              <a:t> la </a:t>
            </a:r>
            <a:r>
              <a:rPr lang="en-GB" sz="1400" dirty="0" err="1">
                <a:latin typeface="Cambria" panose="02040503050406030204" pitchFamily="18" charset="0"/>
              </a:rPr>
              <a:t>probabilité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défaut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paiement</a:t>
            </a:r>
            <a:r>
              <a:rPr lang="en-GB" sz="1400" dirty="0">
                <a:latin typeface="Cambria" panose="02040503050406030204" pitchFamily="18" charset="0"/>
              </a:rPr>
              <a:t> des clients </a:t>
            </a:r>
            <a:r>
              <a:rPr lang="en-GB" sz="1400" dirty="0" err="1">
                <a:latin typeface="Cambria" panose="02040503050406030204" pitchFamily="18" charset="0"/>
              </a:rPr>
              <a:t>à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partir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leurs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caractéristiques</a:t>
            </a:r>
            <a:r>
              <a:rPr lang="en-GB" sz="1400" dirty="0">
                <a:latin typeface="Cambria" panose="02040503050406030204" pitchFamily="18" charset="0"/>
              </a:rPr>
              <a:t> et de </a:t>
            </a:r>
            <a:r>
              <a:rPr lang="en-GB" sz="1400" dirty="0" err="1">
                <a:latin typeface="Cambria" panose="02040503050406030204" pitchFamily="18" charset="0"/>
              </a:rPr>
              <a:t>leur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comportement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paiement</a:t>
            </a:r>
            <a:endParaRPr lang="en-FR" sz="1400" dirty="0">
              <a:latin typeface="Cambria" panose="0204050305040603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0021F-A22F-DD4B-8FE2-81F9B7E72E4D}"/>
              </a:ext>
            </a:extLst>
          </p:cNvPr>
          <p:cNvSpPr txBox="1"/>
          <p:nvPr/>
        </p:nvSpPr>
        <p:spPr>
          <a:xfrm>
            <a:off x="1619944" y="3087803"/>
            <a:ext cx="9235290" cy="1345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400" b="1" dirty="0">
                <a:latin typeface="Cambria" panose="02040503050406030204" pitchFamily="18" charset="0"/>
              </a:rPr>
              <a:t>Aider les </a:t>
            </a:r>
            <a:r>
              <a:rPr lang="en-GB" sz="1400" b="1" dirty="0" err="1">
                <a:latin typeface="Cambria" panose="02040503050406030204" pitchFamily="18" charset="0"/>
              </a:rPr>
              <a:t>banques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à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évaluer</a:t>
            </a:r>
            <a:r>
              <a:rPr lang="en-GB" sz="1400" dirty="0">
                <a:latin typeface="Cambria" panose="02040503050406030204" pitchFamily="18" charset="0"/>
              </a:rPr>
              <a:t> le </a:t>
            </a:r>
            <a:r>
              <a:rPr lang="en-GB" sz="1400" dirty="0" err="1">
                <a:latin typeface="Cambria" panose="02040503050406030204" pitchFamily="18" charset="0"/>
              </a:rPr>
              <a:t>risque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crédit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400" b="1" dirty="0" err="1">
                <a:latin typeface="Cambria" panose="02040503050406030204" pitchFamily="18" charset="0"/>
              </a:rPr>
              <a:t>Réduire</a:t>
            </a:r>
            <a:r>
              <a:rPr lang="en-GB" sz="1400" b="1" dirty="0">
                <a:latin typeface="Cambria" panose="02040503050406030204" pitchFamily="18" charset="0"/>
              </a:rPr>
              <a:t> les </a:t>
            </a:r>
            <a:r>
              <a:rPr lang="en-GB" sz="1400" b="1" dirty="0" err="1">
                <a:latin typeface="Cambria" panose="02040503050406030204" pitchFamily="18" charset="0"/>
              </a:rPr>
              <a:t>pertes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liées</a:t>
            </a:r>
            <a:r>
              <a:rPr lang="en-GB" sz="1400" dirty="0">
                <a:latin typeface="Cambria" panose="02040503050406030204" pitchFamily="18" charset="0"/>
              </a:rPr>
              <a:t> aux </a:t>
            </a:r>
            <a:r>
              <a:rPr lang="en-GB" sz="1400" dirty="0" err="1">
                <a:latin typeface="Cambria" panose="02040503050406030204" pitchFamily="18" charset="0"/>
              </a:rPr>
              <a:t>défauts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paiement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400" b="1" dirty="0" err="1">
                <a:latin typeface="Cambria" panose="02040503050406030204" pitchFamily="18" charset="0"/>
              </a:rPr>
              <a:t>Améliorer</a:t>
            </a:r>
            <a:r>
              <a:rPr lang="en-GB" sz="1400" b="1" dirty="0">
                <a:latin typeface="Cambria" panose="02040503050406030204" pitchFamily="18" charset="0"/>
              </a:rPr>
              <a:t> les </a:t>
            </a:r>
            <a:r>
              <a:rPr lang="en-GB" sz="1400" b="1" dirty="0" err="1">
                <a:latin typeface="Cambria" panose="02040503050406030204" pitchFamily="18" charset="0"/>
              </a:rPr>
              <a:t>décisions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d’octroi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crédit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sz="1400" b="1" dirty="0" err="1">
                <a:latin typeface="Cambria" panose="02040503050406030204" pitchFamily="18" charset="0"/>
              </a:rPr>
              <a:t>Comprendre</a:t>
            </a:r>
            <a:r>
              <a:rPr lang="en-GB" sz="1400" dirty="0">
                <a:latin typeface="Cambria" panose="02040503050406030204" pitchFamily="18" charset="0"/>
              </a:rPr>
              <a:t> les </a:t>
            </a:r>
            <a:r>
              <a:rPr lang="en-GB" sz="1400" dirty="0" err="1">
                <a:latin typeface="Cambria" panose="02040503050406030204" pitchFamily="18" charset="0"/>
              </a:rPr>
              <a:t>facteurs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clés</a:t>
            </a:r>
            <a:r>
              <a:rPr lang="en-GB" sz="1400" dirty="0">
                <a:latin typeface="Cambria" panose="02040503050406030204" pitchFamily="18" charset="0"/>
              </a:rPr>
              <a:t> du </a:t>
            </a:r>
            <a:r>
              <a:rPr lang="en-GB" sz="1400" dirty="0" err="1">
                <a:latin typeface="Cambria" panose="02040503050406030204" pitchFamily="18" charset="0"/>
              </a:rPr>
              <a:t>risque</a:t>
            </a:r>
            <a:r>
              <a:rPr lang="en-GB" sz="1400" dirty="0">
                <a:latin typeface="Cambria" panose="02040503050406030204" pitchFamily="18" charset="0"/>
              </a:rPr>
              <a:t> client</a:t>
            </a:r>
            <a:endParaRPr lang="en-FR" sz="1400" dirty="0">
              <a:latin typeface="Cambria" panose="02040503050406030204" pitchFamily="18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08AA1B-5431-3247-95C8-47E9034F3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623" y="3580327"/>
            <a:ext cx="360000" cy="360000"/>
          </a:xfrm>
          <a:prstGeom prst="rect">
            <a:avLst/>
          </a:prstGeom>
        </p:spPr>
      </p:pic>
      <p:sp>
        <p:nvSpPr>
          <p:cNvPr id="16" name="Triangle 15">
            <a:extLst>
              <a:ext uri="{FF2B5EF4-FFF2-40B4-BE49-F238E27FC236}">
                <a16:creationId xmlns:a16="http://schemas.microsoft.com/office/drawing/2014/main" id="{5D89AC9C-CE1A-6C4B-8857-335319675900}"/>
              </a:ext>
            </a:extLst>
          </p:cNvPr>
          <p:cNvSpPr/>
          <p:nvPr/>
        </p:nvSpPr>
        <p:spPr>
          <a:xfrm rot="10800000">
            <a:off x="3118625" y="5285677"/>
            <a:ext cx="5954751" cy="457200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8950ED-8A49-3440-B97F-6B974898D2CF}"/>
              </a:ext>
            </a:extLst>
          </p:cNvPr>
          <p:cNvSpPr/>
          <p:nvPr/>
        </p:nvSpPr>
        <p:spPr>
          <a:xfrm>
            <a:off x="1002000" y="2711609"/>
            <a:ext cx="10188000" cy="108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726168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4461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Dataset</a:t>
            </a:r>
          </a:p>
          <a:p>
            <a:r>
              <a:rPr lang="en-GB" sz="1600" i="1" dirty="0">
                <a:latin typeface="Cambria" panose="02040503050406030204" pitchFamily="18" charset="0"/>
              </a:rPr>
              <a:t>Default of Credit Card Clients Dataset (</a:t>
            </a:r>
            <a:r>
              <a:rPr lang="en-GB" sz="1600" i="1" dirty="0">
                <a:latin typeface="Cambria" panose="02040503050406030204" pitchFamily="18" charset="0"/>
                <a:hlinkClick r:id="rId2"/>
              </a:rPr>
              <a:t>sur Kaggle</a:t>
            </a:r>
            <a:r>
              <a:rPr lang="en-GB" sz="1600" i="1" dirty="0">
                <a:latin typeface="Cambria" panose="02040503050406030204" pitchFamily="18" charset="0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872248-2636-5E4A-B2D0-4838EC713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10" y="1489614"/>
            <a:ext cx="2731230" cy="48367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377A29-DEE6-004C-98F4-B0C4610DDE60}"/>
              </a:ext>
            </a:extLst>
          </p:cNvPr>
          <p:cNvSpPr txBox="1"/>
          <p:nvPr/>
        </p:nvSpPr>
        <p:spPr>
          <a:xfrm>
            <a:off x="4731488" y="1966747"/>
            <a:ext cx="18427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solidFill>
                  <a:schemeClr val="accent4">
                    <a:lumMod val="75000"/>
                  </a:schemeClr>
                </a:solidFill>
                <a:latin typeface="Cambria" panose="02040503050406030204" pitchFamily="18" charset="0"/>
              </a:rPr>
              <a:t>Limite</a:t>
            </a:r>
            <a:r>
              <a:rPr lang="en-GB" sz="1200" dirty="0">
                <a:solidFill>
                  <a:schemeClr val="accent4">
                    <a:lumMod val="75000"/>
                  </a:schemeClr>
                </a:solidFill>
                <a:latin typeface="Cambria" panose="02040503050406030204" pitchFamily="18" charset="0"/>
              </a:rPr>
              <a:t> de </a:t>
            </a:r>
            <a:r>
              <a:rPr lang="en-GB" sz="1200" dirty="0" err="1">
                <a:solidFill>
                  <a:schemeClr val="accent4">
                    <a:lumMod val="75000"/>
                  </a:schemeClr>
                </a:solidFill>
                <a:latin typeface="Cambria" panose="02040503050406030204" pitchFamily="18" charset="0"/>
              </a:rPr>
              <a:t>crédit</a:t>
            </a:r>
            <a:r>
              <a:rPr lang="en-GB" sz="1200" dirty="0">
                <a:solidFill>
                  <a:schemeClr val="accent4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4">
                    <a:lumMod val="75000"/>
                  </a:schemeClr>
                </a:solidFill>
                <a:latin typeface="Cambria" panose="02040503050406030204" pitchFamily="18" charset="0"/>
              </a:rPr>
              <a:t>accordée</a:t>
            </a:r>
            <a:endParaRPr lang="en-GB" sz="1200" dirty="0">
              <a:solidFill>
                <a:schemeClr val="accent4">
                  <a:lumMod val="75000"/>
                </a:schemeClr>
              </a:solidFill>
              <a:latin typeface="Cambria" panose="020405030504060302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9DBC4A-8C9C-384F-9333-FC81282E6F67}"/>
              </a:ext>
            </a:extLst>
          </p:cNvPr>
          <p:cNvCxnSpPr>
            <a:cxnSpLocks/>
          </p:cNvCxnSpPr>
          <p:nvPr/>
        </p:nvCxnSpPr>
        <p:spPr>
          <a:xfrm>
            <a:off x="2679405" y="2105247"/>
            <a:ext cx="2052083" cy="0"/>
          </a:xfrm>
          <a:prstGeom prst="straightConnector1">
            <a:avLst/>
          </a:prstGeom>
          <a:ln w="952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3C4C39-D0D1-394C-BDE0-320628979BEB}"/>
              </a:ext>
            </a:extLst>
          </p:cNvPr>
          <p:cNvCxnSpPr>
            <a:cxnSpLocks/>
          </p:cNvCxnSpPr>
          <p:nvPr/>
        </p:nvCxnSpPr>
        <p:spPr>
          <a:xfrm>
            <a:off x="2679405" y="3445678"/>
            <a:ext cx="2052083" cy="0"/>
          </a:xfrm>
          <a:prstGeom prst="straightConnector1">
            <a:avLst/>
          </a:prstGeom>
          <a:ln w="952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7E9EBE7-8FBD-A64E-BD91-C6C9138B6799}"/>
              </a:ext>
            </a:extLst>
          </p:cNvPr>
          <p:cNvSpPr txBox="1"/>
          <p:nvPr/>
        </p:nvSpPr>
        <p:spPr>
          <a:xfrm>
            <a:off x="4731488" y="3307178"/>
            <a:ext cx="2175211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1200" dirty="0" err="1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</a:rPr>
              <a:t>Historique</a:t>
            </a:r>
            <a:r>
              <a:rPr lang="en-GB" sz="1200" dirty="0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</a:rPr>
              <a:t> de </a:t>
            </a:r>
            <a:r>
              <a:rPr lang="en-GB" sz="1200" dirty="0" err="1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</a:rPr>
              <a:t>remboursement</a:t>
            </a:r>
            <a:endParaRPr lang="en-GB" sz="1200" dirty="0">
              <a:solidFill>
                <a:schemeClr val="accent6">
                  <a:lumMod val="75000"/>
                </a:schemeClr>
              </a:solidFill>
              <a:latin typeface="Cambria" panose="020405030504060302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C40F54-C845-EA44-8F60-8A37B114F74C}"/>
              </a:ext>
            </a:extLst>
          </p:cNvPr>
          <p:cNvSpPr/>
          <p:nvPr/>
        </p:nvSpPr>
        <p:spPr>
          <a:xfrm>
            <a:off x="1706446" y="2934766"/>
            <a:ext cx="557561" cy="1061294"/>
          </a:xfrm>
          <a:prstGeom prst="rect">
            <a:avLst/>
          </a:prstGeom>
          <a:solidFill>
            <a:srgbClr val="548235">
              <a:alpha val="2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7FB661-74DE-244F-AA81-0BF6356B9167}"/>
              </a:ext>
            </a:extLst>
          </p:cNvPr>
          <p:cNvSpPr/>
          <p:nvPr/>
        </p:nvSpPr>
        <p:spPr>
          <a:xfrm>
            <a:off x="1710177" y="2043723"/>
            <a:ext cx="847043" cy="180613"/>
          </a:xfrm>
          <a:prstGeom prst="rect">
            <a:avLst/>
          </a:prstGeom>
          <a:solidFill>
            <a:schemeClr val="accent4">
              <a:lumMod val="75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76F0D1-34BC-B24C-924A-2E65D80FADE7}"/>
              </a:ext>
            </a:extLst>
          </p:cNvPr>
          <p:cNvSpPr/>
          <p:nvPr/>
        </p:nvSpPr>
        <p:spPr>
          <a:xfrm>
            <a:off x="1706911" y="4002990"/>
            <a:ext cx="847043" cy="10612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903563-5727-5540-AE33-F71484A46CD7}"/>
              </a:ext>
            </a:extLst>
          </p:cNvPr>
          <p:cNvSpPr/>
          <p:nvPr/>
        </p:nvSpPr>
        <p:spPr>
          <a:xfrm>
            <a:off x="1706911" y="5074082"/>
            <a:ext cx="781563" cy="1061294"/>
          </a:xfrm>
          <a:prstGeom prst="rect">
            <a:avLst/>
          </a:prstGeom>
          <a:solidFill>
            <a:schemeClr val="accent1">
              <a:lumMod val="75000"/>
              <a:alpha val="2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A44C9F3-6179-0F47-859A-AB0317311485}"/>
              </a:ext>
            </a:extLst>
          </p:cNvPr>
          <p:cNvCxnSpPr>
            <a:cxnSpLocks/>
          </p:cNvCxnSpPr>
          <p:nvPr/>
        </p:nvCxnSpPr>
        <p:spPr>
          <a:xfrm>
            <a:off x="2679405" y="4435959"/>
            <a:ext cx="2052083" cy="0"/>
          </a:xfrm>
          <a:prstGeom prst="straightConnector1">
            <a:avLst/>
          </a:prstGeom>
          <a:ln w="95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7A81B32-457C-7747-8BC0-2231ED06CEEF}"/>
              </a:ext>
            </a:extLst>
          </p:cNvPr>
          <p:cNvSpPr txBox="1"/>
          <p:nvPr/>
        </p:nvSpPr>
        <p:spPr>
          <a:xfrm>
            <a:off x="4731488" y="4297459"/>
            <a:ext cx="2440861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1200" dirty="0" err="1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</a:rPr>
              <a:t>Montant</a:t>
            </a:r>
            <a:r>
              <a:rPr lang="en-GB" sz="1200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</a:rPr>
              <a:t> de la facture </a:t>
            </a:r>
            <a:r>
              <a:rPr lang="en-GB" sz="1200" dirty="0" err="1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</a:rPr>
              <a:t>chaque</a:t>
            </a:r>
            <a:r>
              <a:rPr lang="en-GB" sz="1200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</a:rPr>
              <a:t>mois</a:t>
            </a:r>
            <a:endParaRPr lang="en-GB" sz="1200" dirty="0">
              <a:solidFill>
                <a:schemeClr val="accent2">
                  <a:lumMod val="75000"/>
                </a:schemeClr>
              </a:solidFill>
              <a:latin typeface="Cambria" panose="02040503050406030204" pitchFamily="18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3E50A11-2E60-E347-8126-83CBE470B4B9}"/>
              </a:ext>
            </a:extLst>
          </p:cNvPr>
          <p:cNvCxnSpPr>
            <a:cxnSpLocks/>
          </p:cNvCxnSpPr>
          <p:nvPr/>
        </p:nvCxnSpPr>
        <p:spPr>
          <a:xfrm>
            <a:off x="2679405" y="5499167"/>
            <a:ext cx="2052083" cy="0"/>
          </a:xfrm>
          <a:prstGeom prst="straightConnector1">
            <a:avLst/>
          </a:prstGeom>
          <a:ln w="9525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3DA0B58-DD6A-C542-8B86-7AB9A943F927}"/>
              </a:ext>
            </a:extLst>
          </p:cNvPr>
          <p:cNvSpPr txBox="1"/>
          <p:nvPr/>
        </p:nvSpPr>
        <p:spPr>
          <a:xfrm>
            <a:off x="4731488" y="5360667"/>
            <a:ext cx="26883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1200" dirty="0" err="1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Montant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réellement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payé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chaque</a:t>
            </a:r>
            <a:r>
              <a:rPr lang="en-GB" sz="1200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 </a:t>
            </a:r>
            <a:r>
              <a:rPr lang="en-GB" sz="1200" dirty="0" err="1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</a:rPr>
              <a:t>mois</a:t>
            </a:r>
            <a:endParaRPr lang="en-GB" sz="12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2D4EF34-22A4-AE42-B9D3-59833D89B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2492" y="1652827"/>
            <a:ext cx="4625253" cy="3308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476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32717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Feature Engineering </a:t>
            </a:r>
            <a:r>
              <a:rPr lang="en-FR" sz="2000" dirty="0">
                <a:latin typeface="Cambria" panose="02040503050406030204" pitchFamily="18" charset="0"/>
              </a:rPr>
              <a:t>(1/2)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A1B9DC-BA3B-E643-A02A-FA19DFF1CC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5969"/>
          <a:stretch/>
        </p:blipFill>
        <p:spPr>
          <a:xfrm>
            <a:off x="-4277460" y="2557681"/>
            <a:ext cx="3930383" cy="16480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FCB971-8300-3A4B-8AFA-604FAF92BC94}"/>
              </a:ext>
            </a:extLst>
          </p:cNvPr>
          <p:cNvSpPr txBox="1"/>
          <p:nvPr/>
        </p:nvSpPr>
        <p:spPr>
          <a:xfrm>
            <a:off x="483476" y="1298882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Suppression de la colonne “ID”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Remplacement des catégories non interpretables dans la colonne EDUCATION et MARRIAGE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Création des variables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400" dirty="0">
                <a:latin typeface="Cambria" panose="02040503050406030204" pitchFamily="18" charset="0"/>
              </a:rPr>
              <a:t>“</a:t>
            </a:r>
            <a:r>
              <a:rPr lang="en-FR" sz="1400" i="1" dirty="0">
                <a:latin typeface="Cambria" panose="02040503050406030204" pitchFamily="18" charset="0"/>
              </a:rPr>
              <a:t>utilisation_credit_moy</a:t>
            </a:r>
            <a:r>
              <a:rPr lang="en-FR" sz="1400" dirty="0">
                <a:latin typeface="Cambria" panose="02040503050406030204" pitchFamily="18" charset="0"/>
              </a:rPr>
              <a:t>” : moyenne des dépenses sur les 6 derniers mois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400" dirty="0">
                <a:latin typeface="Cambria" panose="02040503050406030204" pitchFamily="18" charset="0"/>
              </a:rPr>
              <a:t>“</a:t>
            </a:r>
            <a:r>
              <a:rPr lang="en-FR" sz="1400" i="1" dirty="0">
                <a:latin typeface="Cambria" panose="02040503050406030204" pitchFamily="18" charset="0"/>
              </a:rPr>
              <a:t>utilisation_credit_max</a:t>
            </a:r>
            <a:r>
              <a:rPr lang="en-FR" sz="1400" dirty="0">
                <a:latin typeface="Cambria" panose="02040503050406030204" pitchFamily="18" charset="0"/>
              </a:rPr>
              <a:t>” : montant maximum dépensé parmi les 6 derniers mois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400" dirty="0">
                <a:latin typeface="Cambria" panose="02040503050406030204" pitchFamily="18" charset="0"/>
              </a:rPr>
              <a:t>“</a:t>
            </a:r>
            <a:r>
              <a:rPr lang="en-FR" sz="1400" i="1" dirty="0">
                <a:latin typeface="Cambria" panose="02040503050406030204" pitchFamily="18" charset="0"/>
              </a:rPr>
              <a:t>ratio_paiement</a:t>
            </a:r>
            <a:r>
              <a:rPr lang="en-FR" sz="1400" dirty="0">
                <a:latin typeface="Cambria" panose="02040503050406030204" pitchFamily="18" charset="0"/>
              </a:rPr>
              <a:t>” : ratio montrant si le client paie correctement ou non (1 si ok)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Remplacement des -inf et +inf par le chiffre 0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4EC00AE-8F22-FF48-9E27-7DE48B5E1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5908" y="1298882"/>
            <a:ext cx="4874146" cy="439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E7CD9-1245-AA4E-8BA7-0F2AC8C24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78" y="4330708"/>
            <a:ext cx="2543972" cy="15158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774268-7862-384B-ACF9-B25A521EB3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476" y="3773212"/>
            <a:ext cx="3484286" cy="263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969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32717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Feature Engineering </a:t>
            </a:r>
            <a:r>
              <a:rPr lang="en-FR" sz="2000" dirty="0">
                <a:latin typeface="Cambria" panose="02040503050406030204" pitchFamily="18" charset="0"/>
              </a:rPr>
              <a:t>(2/2)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A1B9DC-BA3B-E643-A02A-FA19DFF1CC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5969"/>
          <a:stretch/>
        </p:blipFill>
        <p:spPr>
          <a:xfrm>
            <a:off x="-4277460" y="2557681"/>
            <a:ext cx="3930383" cy="16480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FCB971-8300-3A4B-8AFA-604FAF92BC94}"/>
              </a:ext>
            </a:extLst>
          </p:cNvPr>
          <p:cNvSpPr txBox="1"/>
          <p:nvPr/>
        </p:nvSpPr>
        <p:spPr>
          <a:xfrm>
            <a:off x="483476" y="1298882"/>
            <a:ext cx="561252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Transformation des variables ”AGE” en catégorie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Transformation des catégories “SEX”, “EDUCATION” et MARRIAGE” en valeur numérique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Traitement de l’équilibrage de la colonne “</a:t>
            </a:r>
            <a:r>
              <a:rPr lang="en-GB" sz="1400" dirty="0" err="1">
                <a:latin typeface="Cambria" panose="02040503050406030204" pitchFamily="18" charset="0"/>
              </a:rPr>
              <a:t>default.payment.next.month</a:t>
            </a:r>
            <a:r>
              <a:rPr lang="en-GB" sz="1400" dirty="0">
                <a:latin typeface="Cambria" panose="02040503050406030204" pitchFamily="18" charset="0"/>
              </a:rPr>
              <a:t>” :</a:t>
            </a:r>
            <a:endParaRPr lang="en-FR" sz="14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42698-ECB0-A742-B174-6D37BF7FB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024" y="1914602"/>
            <a:ext cx="4728869" cy="20834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DCF24F-7511-0044-BD0E-DBB64E8DF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476" y="4565876"/>
            <a:ext cx="11031206" cy="116955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71D2F7C-F6C4-7C49-853A-D8873544C5A4}"/>
              </a:ext>
            </a:extLst>
          </p:cNvPr>
          <p:cNvSpPr/>
          <p:nvPr/>
        </p:nvSpPr>
        <p:spPr>
          <a:xfrm>
            <a:off x="758234" y="4283930"/>
            <a:ext cx="10188000" cy="108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95216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4F689BF-DA31-6B42-992C-65BED83D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51" y="2405831"/>
            <a:ext cx="2846473" cy="2743200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FBF5C067-BD3A-1E49-A7E0-F16FFF2D6B6F}"/>
              </a:ext>
            </a:extLst>
          </p:cNvPr>
          <p:cNvSpPr/>
          <p:nvPr/>
        </p:nvSpPr>
        <p:spPr>
          <a:xfrm>
            <a:off x="7367750" y="2432453"/>
            <a:ext cx="1415301" cy="2689957"/>
          </a:xfrm>
          <a:custGeom>
            <a:avLst/>
            <a:gdLst>
              <a:gd name="connsiteX0" fmla="*/ 0 w 1776248"/>
              <a:gd name="connsiteY0" fmla="*/ 2217682 h 2217682"/>
              <a:gd name="connsiteX1" fmla="*/ 1776248 w 1776248"/>
              <a:gd name="connsiteY1" fmla="*/ 2196662 h 2217682"/>
              <a:gd name="connsiteX2" fmla="*/ 1755227 w 1776248"/>
              <a:gd name="connsiteY2" fmla="*/ 0 h 2217682"/>
              <a:gd name="connsiteX3" fmla="*/ 31531 w 1776248"/>
              <a:gd name="connsiteY3" fmla="*/ 1439917 h 2217682"/>
              <a:gd name="connsiteX4" fmla="*/ 0 w 1776248"/>
              <a:gd name="connsiteY4" fmla="*/ 2217682 h 2217682"/>
              <a:gd name="connsiteX0" fmla="*/ 0 w 1776248"/>
              <a:gd name="connsiteY0" fmla="*/ 2217682 h 2217682"/>
              <a:gd name="connsiteX1" fmla="*/ 1776248 w 1776248"/>
              <a:gd name="connsiteY1" fmla="*/ 2196662 h 2217682"/>
              <a:gd name="connsiteX2" fmla="*/ 1755227 w 1776248"/>
              <a:gd name="connsiteY2" fmla="*/ 0 h 2217682"/>
              <a:gd name="connsiteX3" fmla="*/ 3104 w 1776248"/>
              <a:gd name="connsiteY3" fmla="*/ 1444655 h 2217682"/>
              <a:gd name="connsiteX4" fmla="*/ 0 w 1776248"/>
              <a:gd name="connsiteY4" fmla="*/ 2217682 h 2217682"/>
              <a:gd name="connsiteX0" fmla="*/ 0 w 1764217"/>
              <a:gd name="connsiteY0" fmla="*/ 2217682 h 2665893"/>
              <a:gd name="connsiteX1" fmla="*/ 1764217 w 1764217"/>
              <a:gd name="connsiteY1" fmla="*/ 2665893 h 2665893"/>
              <a:gd name="connsiteX2" fmla="*/ 1755227 w 1764217"/>
              <a:gd name="connsiteY2" fmla="*/ 0 h 2665893"/>
              <a:gd name="connsiteX3" fmla="*/ 3104 w 1764217"/>
              <a:gd name="connsiteY3" fmla="*/ 1444655 h 2665893"/>
              <a:gd name="connsiteX4" fmla="*/ 0 w 1764217"/>
              <a:gd name="connsiteY4" fmla="*/ 2217682 h 2665893"/>
              <a:gd name="connsiteX0" fmla="*/ 0 w 1764217"/>
              <a:gd name="connsiteY0" fmla="*/ 2205651 h 2653862"/>
              <a:gd name="connsiteX1" fmla="*/ 1764217 w 1764217"/>
              <a:gd name="connsiteY1" fmla="*/ 2653862 h 2653862"/>
              <a:gd name="connsiteX2" fmla="*/ 1550690 w 1764217"/>
              <a:gd name="connsiteY2" fmla="*/ 0 h 2653862"/>
              <a:gd name="connsiteX3" fmla="*/ 3104 w 1764217"/>
              <a:gd name="connsiteY3" fmla="*/ 1432624 h 2653862"/>
              <a:gd name="connsiteX4" fmla="*/ 0 w 1764217"/>
              <a:gd name="connsiteY4" fmla="*/ 2205651 h 2653862"/>
              <a:gd name="connsiteX0" fmla="*/ 0 w 1550746"/>
              <a:gd name="connsiteY0" fmla="*/ 2205651 h 2701988"/>
              <a:gd name="connsiteX1" fmla="*/ 1439365 w 1550746"/>
              <a:gd name="connsiteY1" fmla="*/ 2701988 h 2701988"/>
              <a:gd name="connsiteX2" fmla="*/ 1550690 w 1550746"/>
              <a:gd name="connsiteY2" fmla="*/ 0 h 2701988"/>
              <a:gd name="connsiteX3" fmla="*/ 3104 w 1550746"/>
              <a:gd name="connsiteY3" fmla="*/ 1432624 h 2701988"/>
              <a:gd name="connsiteX4" fmla="*/ 0 w 1550746"/>
              <a:gd name="connsiteY4" fmla="*/ 2205651 h 2701988"/>
              <a:gd name="connsiteX0" fmla="*/ 0 w 1550746"/>
              <a:gd name="connsiteY0" fmla="*/ 2205651 h 2930588"/>
              <a:gd name="connsiteX1" fmla="*/ 1439365 w 1550746"/>
              <a:gd name="connsiteY1" fmla="*/ 2930588 h 2930588"/>
              <a:gd name="connsiteX2" fmla="*/ 1550690 w 1550746"/>
              <a:gd name="connsiteY2" fmla="*/ 0 h 2930588"/>
              <a:gd name="connsiteX3" fmla="*/ 3104 w 1550746"/>
              <a:gd name="connsiteY3" fmla="*/ 1432624 h 2930588"/>
              <a:gd name="connsiteX4" fmla="*/ 0 w 1550746"/>
              <a:gd name="connsiteY4" fmla="*/ 2205651 h 2930588"/>
              <a:gd name="connsiteX0" fmla="*/ 0 w 1550736"/>
              <a:gd name="connsiteY0" fmla="*/ 2205651 h 2714020"/>
              <a:gd name="connsiteX1" fmla="*/ 1415301 w 1550736"/>
              <a:gd name="connsiteY1" fmla="*/ 2714020 h 2714020"/>
              <a:gd name="connsiteX2" fmla="*/ 1550690 w 1550736"/>
              <a:gd name="connsiteY2" fmla="*/ 0 h 2714020"/>
              <a:gd name="connsiteX3" fmla="*/ 3104 w 1550736"/>
              <a:gd name="connsiteY3" fmla="*/ 1432624 h 2714020"/>
              <a:gd name="connsiteX4" fmla="*/ 0 w 1550736"/>
              <a:gd name="connsiteY4" fmla="*/ 2205651 h 2714020"/>
              <a:gd name="connsiteX0" fmla="*/ 0 w 1415301"/>
              <a:gd name="connsiteY0" fmla="*/ 2398156 h 2906525"/>
              <a:gd name="connsiteX1" fmla="*/ 1415301 w 1415301"/>
              <a:gd name="connsiteY1" fmla="*/ 2906525 h 2906525"/>
              <a:gd name="connsiteX2" fmla="*/ 1382248 w 1415301"/>
              <a:gd name="connsiteY2" fmla="*/ 0 h 2906525"/>
              <a:gd name="connsiteX3" fmla="*/ 3104 w 1415301"/>
              <a:gd name="connsiteY3" fmla="*/ 1625129 h 2906525"/>
              <a:gd name="connsiteX4" fmla="*/ 0 w 1415301"/>
              <a:gd name="connsiteY4" fmla="*/ 2398156 h 2906525"/>
              <a:gd name="connsiteX0" fmla="*/ 0 w 1550736"/>
              <a:gd name="connsiteY0" fmla="*/ 2494409 h 3002778"/>
              <a:gd name="connsiteX1" fmla="*/ 1415301 w 1550736"/>
              <a:gd name="connsiteY1" fmla="*/ 3002778 h 3002778"/>
              <a:gd name="connsiteX2" fmla="*/ 1550690 w 1550736"/>
              <a:gd name="connsiteY2" fmla="*/ 0 h 3002778"/>
              <a:gd name="connsiteX3" fmla="*/ 3104 w 1550736"/>
              <a:gd name="connsiteY3" fmla="*/ 1721382 h 3002778"/>
              <a:gd name="connsiteX4" fmla="*/ 0 w 1550736"/>
              <a:gd name="connsiteY4" fmla="*/ 2494409 h 3002778"/>
              <a:gd name="connsiteX0" fmla="*/ 0 w 1415301"/>
              <a:gd name="connsiteY0" fmla="*/ 2181588 h 2689957"/>
              <a:gd name="connsiteX1" fmla="*/ 1415301 w 1415301"/>
              <a:gd name="connsiteY1" fmla="*/ 2689957 h 2689957"/>
              <a:gd name="connsiteX2" fmla="*/ 1406311 w 1415301"/>
              <a:gd name="connsiteY2" fmla="*/ 0 h 2689957"/>
              <a:gd name="connsiteX3" fmla="*/ 3104 w 1415301"/>
              <a:gd name="connsiteY3" fmla="*/ 1408561 h 2689957"/>
              <a:gd name="connsiteX4" fmla="*/ 0 w 1415301"/>
              <a:gd name="connsiteY4" fmla="*/ 2181588 h 2689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5301" h="2689957">
                <a:moveTo>
                  <a:pt x="0" y="2181588"/>
                </a:moveTo>
                <a:lnTo>
                  <a:pt x="1415301" y="2689957"/>
                </a:lnTo>
                <a:cubicBezTo>
                  <a:pt x="1412304" y="1801326"/>
                  <a:pt x="1409308" y="888631"/>
                  <a:pt x="1406311" y="0"/>
                </a:cubicBezTo>
                <a:lnTo>
                  <a:pt x="3104" y="1408561"/>
                </a:lnTo>
                <a:cubicBezTo>
                  <a:pt x="2069" y="1666237"/>
                  <a:pt x="1035" y="1923912"/>
                  <a:pt x="0" y="2181588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25632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Modeling Approach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4CBE8-6121-704D-B1D8-50CD2E0856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09"/>
          <a:stretch/>
        </p:blipFill>
        <p:spPr>
          <a:xfrm>
            <a:off x="-4201388" y="2214446"/>
            <a:ext cx="4131763" cy="15629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49A819-7A75-F145-B6CD-39C467594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34" y="1398718"/>
            <a:ext cx="3160878" cy="10835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091B450-BD55-7F48-8600-9781047ED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34" y="2839720"/>
            <a:ext cx="4991491" cy="34866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00F4D3-32B5-8240-AED0-08AA6963E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503" y="2979168"/>
            <a:ext cx="1354213" cy="33472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CD93C8-46EE-2348-B897-7B45E1D718E1}"/>
              </a:ext>
            </a:extLst>
          </p:cNvPr>
          <p:cNvSpPr txBox="1"/>
          <p:nvPr/>
        </p:nvSpPr>
        <p:spPr>
          <a:xfrm>
            <a:off x="5885666" y="1298882"/>
            <a:ext cx="5612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La metric AUC </a:t>
            </a:r>
            <a:r>
              <a:rPr lang="en-GB" sz="1400" dirty="0" err="1">
                <a:latin typeface="Cambria" panose="02040503050406030204" pitchFamily="18" charset="0"/>
              </a:rPr>
              <a:t>est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une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mesure</a:t>
            </a:r>
            <a:r>
              <a:rPr lang="en-GB" sz="1400" dirty="0">
                <a:latin typeface="Cambria" panose="02040503050406030204" pitchFamily="18" charset="0"/>
              </a:rPr>
              <a:t> de la </a:t>
            </a:r>
            <a:r>
              <a:rPr lang="en-GB" sz="1400" dirty="0" err="1">
                <a:latin typeface="Cambria" panose="02040503050406030204" pitchFamily="18" charset="0"/>
              </a:rPr>
              <a:t>courbe</a:t>
            </a:r>
            <a:r>
              <a:rPr lang="en-GB" sz="1400" dirty="0">
                <a:latin typeface="Cambria" panose="02040503050406030204" pitchFamily="18" charset="0"/>
              </a:rPr>
              <a:t> ROC qui </a:t>
            </a:r>
            <a:r>
              <a:rPr lang="en-GB" sz="1400" dirty="0" err="1">
                <a:latin typeface="Cambria" panose="02040503050406030204" pitchFamily="18" charset="0"/>
              </a:rPr>
              <a:t>reflète</a:t>
            </a:r>
            <a:r>
              <a:rPr lang="en-GB" sz="1400" dirty="0">
                <a:latin typeface="Cambria" panose="02040503050406030204" pitchFamily="18" charset="0"/>
              </a:rPr>
              <a:t> la </a:t>
            </a:r>
            <a:r>
              <a:rPr lang="en-GB" sz="1400" dirty="0" err="1">
                <a:latin typeface="Cambria" panose="02040503050406030204" pitchFamily="18" charset="0"/>
              </a:rPr>
              <a:t>capacité</a:t>
            </a:r>
            <a:r>
              <a:rPr lang="en-GB" sz="1400" dirty="0">
                <a:latin typeface="Cambria" panose="02040503050406030204" pitchFamily="18" charset="0"/>
              </a:rPr>
              <a:t> du test </a:t>
            </a:r>
            <a:r>
              <a:rPr lang="en-GB" sz="1400" dirty="0" err="1">
                <a:latin typeface="Cambria" panose="02040503050406030204" pitchFamily="18" charset="0"/>
              </a:rPr>
              <a:t>à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distinguer</a:t>
            </a:r>
            <a:r>
              <a:rPr lang="en-GB" sz="1400" dirty="0">
                <a:latin typeface="Cambria" panose="02040503050406030204" pitchFamily="18" charset="0"/>
              </a:rPr>
              <a:t> entre les non </a:t>
            </a:r>
            <a:r>
              <a:rPr lang="en-GB" sz="1400" dirty="0" err="1">
                <a:latin typeface="Cambria" panose="02040503050406030204" pitchFamily="18" charset="0"/>
              </a:rPr>
              <a:t>défauts</a:t>
            </a:r>
            <a:r>
              <a:rPr lang="en-GB" sz="1400" dirty="0">
                <a:latin typeface="Cambria" panose="02040503050406030204" pitchFamily="18" charset="0"/>
              </a:rPr>
              <a:t> et les </a:t>
            </a:r>
            <a:r>
              <a:rPr lang="en-GB" sz="1400" dirty="0" err="1">
                <a:latin typeface="Cambria" panose="02040503050406030204" pitchFamily="18" charset="0"/>
              </a:rPr>
              <a:t>défauts</a:t>
            </a:r>
            <a:endParaRPr lang="en-FR" sz="1400" dirty="0">
              <a:latin typeface="Cambria" panose="020405030504060302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2C17A0-3395-2F49-BE35-B7EB6DF84FA9}"/>
              </a:ext>
            </a:extLst>
          </p:cNvPr>
          <p:cNvSpPr/>
          <p:nvPr/>
        </p:nvSpPr>
        <p:spPr>
          <a:xfrm>
            <a:off x="758234" y="2598821"/>
            <a:ext cx="4559724" cy="108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652246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3394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Evalutation &amp; Results (1/2)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A53926-8953-4E41-9242-C12DCEC627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101" b="39070"/>
          <a:stretch/>
        </p:blipFill>
        <p:spPr>
          <a:xfrm>
            <a:off x="-4569258" y="2063247"/>
            <a:ext cx="4131763" cy="25943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FBB1A5-66B7-5641-A572-54602FA75C91}"/>
              </a:ext>
            </a:extLst>
          </p:cNvPr>
          <p:cNvSpPr txBox="1"/>
          <p:nvPr/>
        </p:nvSpPr>
        <p:spPr>
          <a:xfrm>
            <a:off x="483476" y="1298882"/>
            <a:ext cx="6292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FR" sz="1400" dirty="0">
                <a:latin typeface="Cambria" panose="02040503050406030204" pitchFamily="18" charset="0"/>
              </a:rPr>
              <a:t>Correction de l’overfitting (AUC d’environ 0,98 train/test) pour le modèle Random Forest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80994A-9FF0-B34A-8D20-C5FF58D93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679" y="1991837"/>
            <a:ext cx="4057650" cy="1054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EF1EB60-8F04-FB4A-A13B-254759A7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270" y="3278807"/>
            <a:ext cx="4057650" cy="279400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BEF9AD8A-355E-8E46-AF6D-ED6D9392F26B}"/>
              </a:ext>
            </a:extLst>
          </p:cNvPr>
          <p:cNvSpPr/>
          <p:nvPr/>
        </p:nvSpPr>
        <p:spPr>
          <a:xfrm>
            <a:off x="1017754" y="3347387"/>
            <a:ext cx="272908" cy="142240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1385C8-0C9B-8341-BAAE-BD4FC2668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623" y="4024877"/>
            <a:ext cx="4057649" cy="2222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B29D407-9C8B-0142-86A3-89D9B558D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8462" y="4284800"/>
            <a:ext cx="3856552" cy="211235"/>
          </a:xfrm>
          <a:prstGeom prst="rect">
            <a:avLst/>
          </a:prstGeom>
        </p:spPr>
      </p:pic>
      <p:sp>
        <p:nvSpPr>
          <p:cNvPr id="16" name="Right Arrow 15">
            <a:extLst>
              <a:ext uri="{FF2B5EF4-FFF2-40B4-BE49-F238E27FC236}">
                <a16:creationId xmlns:a16="http://schemas.microsoft.com/office/drawing/2014/main" id="{4838CCB3-8073-2346-8B2B-15B76B958608}"/>
              </a:ext>
            </a:extLst>
          </p:cNvPr>
          <p:cNvSpPr/>
          <p:nvPr/>
        </p:nvSpPr>
        <p:spPr>
          <a:xfrm>
            <a:off x="1017754" y="4340717"/>
            <a:ext cx="272908" cy="142240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2C18AF-143C-1D48-A9AA-16D50517AC48}"/>
              </a:ext>
            </a:extLst>
          </p:cNvPr>
          <p:cNvSpPr/>
          <p:nvPr/>
        </p:nvSpPr>
        <p:spPr>
          <a:xfrm>
            <a:off x="1052623" y="4786799"/>
            <a:ext cx="4094706" cy="3114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FR" sz="900" dirty="0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</a:rPr>
              <a:t>Réduction de l’overfitting en paramètrant le nombre de branche et de feuille à 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1C4AA3-A537-4E44-A7C8-25125CE30D5A}"/>
              </a:ext>
            </a:extLst>
          </p:cNvPr>
          <p:cNvSpPr txBox="1"/>
          <p:nvPr/>
        </p:nvSpPr>
        <p:spPr>
          <a:xfrm>
            <a:off x="483476" y="5405229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Calibration avec le </a:t>
            </a:r>
            <a:r>
              <a:rPr lang="en-GB" sz="1400" dirty="0" err="1">
                <a:latin typeface="Cambria" panose="02040503050406030204" pitchFamily="18" charset="0"/>
              </a:rPr>
              <a:t>modèle</a:t>
            </a:r>
            <a:r>
              <a:rPr lang="en-GB" sz="1400" dirty="0">
                <a:latin typeface="Cambria" panose="02040503050406030204" pitchFamily="18" charset="0"/>
              </a:rPr>
              <a:t> Random Forest</a:t>
            </a:r>
            <a:endParaRPr lang="en-FR" sz="1400" dirty="0">
              <a:latin typeface="Cambria" panose="020405030504060302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313F7DD-AE6D-BE40-80D8-AC5BB497AB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8819" y="5879791"/>
            <a:ext cx="3856552" cy="211235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600C7043-97F7-5242-9E6A-52ABB5DEF66B}"/>
              </a:ext>
            </a:extLst>
          </p:cNvPr>
          <p:cNvSpPr/>
          <p:nvPr/>
        </p:nvSpPr>
        <p:spPr>
          <a:xfrm>
            <a:off x="1017754" y="5930856"/>
            <a:ext cx="272908" cy="142240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768708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3394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Evalutation &amp; Results (2/2)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A53926-8953-4E41-9242-C12DCEC627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101" b="39070"/>
          <a:stretch/>
        </p:blipFill>
        <p:spPr>
          <a:xfrm>
            <a:off x="-4569258" y="2063247"/>
            <a:ext cx="4131763" cy="2594345"/>
          </a:xfrm>
          <a:prstGeom prst="rect">
            <a:avLst/>
          </a:prstGeom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A016455D-F14C-A541-98B4-68399D213A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47461"/>
            <a:ext cx="4731976" cy="271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3C7FB66C-F348-B442-AB08-C10E4A567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7817" y="1847461"/>
            <a:ext cx="3702361" cy="447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662F8D3-1CB5-704F-BD01-27BD7D602122}"/>
              </a:ext>
            </a:extLst>
          </p:cNvPr>
          <p:cNvSpPr txBox="1"/>
          <p:nvPr/>
        </p:nvSpPr>
        <p:spPr>
          <a:xfrm>
            <a:off x="1237816" y="1298882"/>
            <a:ext cx="3702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Cambria" panose="02040503050406030204" pitchFamily="18" charset="0"/>
              </a:rPr>
              <a:t>SHAP avec le </a:t>
            </a:r>
            <a:r>
              <a:rPr lang="en-GB" sz="1400" dirty="0" err="1">
                <a:latin typeface="Cambria" panose="02040503050406030204" pitchFamily="18" charset="0"/>
              </a:rPr>
              <a:t>modèle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XGBoost</a:t>
            </a:r>
            <a:endParaRPr lang="en-FR" sz="1400" dirty="0">
              <a:latin typeface="Cambria" panose="020405030504060302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58FB7-E9A3-314E-9E5A-6E1A2AFFC77D}"/>
              </a:ext>
            </a:extLst>
          </p:cNvPr>
          <p:cNvSpPr txBox="1"/>
          <p:nvPr/>
        </p:nvSpPr>
        <p:spPr>
          <a:xfrm>
            <a:off x="6096000" y="1298881"/>
            <a:ext cx="47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Cambria" panose="02040503050406030204" pitchFamily="18" charset="0"/>
              </a:rPr>
              <a:t>Feature Importance avec le </a:t>
            </a:r>
            <a:r>
              <a:rPr lang="en-GB" sz="1400" dirty="0" err="1">
                <a:latin typeface="Cambria" panose="02040503050406030204" pitchFamily="18" charset="0"/>
              </a:rPr>
              <a:t>modèle</a:t>
            </a:r>
            <a:r>
              <a:rPr lang="en-GB" sz="1400" dirty="0">
                <a:latin typeface="Cambria" panose="02040503050406030204" pitchFamily="18" charset="0"/>
              </a:rPr>
              <a:t> Random Forest</a:t>
            </a:r>
            <a:endParaRPr lang="en-FR" sz="1400" dirty="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3741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7DB9BC9-B361-E34D-8C1F-CCB7B7EDF211}"/>
              </a:ext>
            </a:extLst>
          </p:cNvPr>
          <p:cNvSpPr txBox="1"/>
          <p:nvPr/>
        </p:nvSpPr>
        <p:spPr>
          <a:xfrm>
            <a:off x="1052623" y="531626"/>
            <a:ext cx="1482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R" sz="2000" b="1" dirty="0">
                <a:latin typeface="Cambria" panose="02040503050406030204" pitchFamily="18" charset="0"/>
              </a:rPr>
              <a:t>Conclusion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475C5-11BD-7D43-AB41-3D2DB2FD1A3A}"/>
              </a:ext>
            </a:extLst>
          </p:cNvPr>
          <p:cNvSpPr/>
          <p:nvPr/>
        </p:nvSpPr>
        <p:spPr>
          <a:xfrm>
            <a:off x="847001" y="688013"/>
            <a:ext cx="108000" cy="10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62E417-943D-4B42-847F-CD3221172D65}"/>
              </a:ext>
            </a:extLst>
          </p:cNvPr>
          <p:cNvSpPr txBox="1"/>
          <p:nvPr/>
        </p:nvSpPr>
        <p:spPr>
          <a:xfrm>
            <a:off x="1988185" y="1298882"/>
            <a:ext cx="700534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400" b="1" dirty="0">
                <a:latin typeface="Cambria" panose="02040503050406030204" pitchFamily="18" charset="0"/>
              </a:rPr>
              <a:t>Ce qui a </a:t>
            </a:r>
            <a:r>
              <a:rPr lang="en-GB" sz="1400" b="1" dirty="0" err="1">
                <a:latin typeface="Cambria" panose="02040503050406030204" pitchFamily="18" charset="0"/>
              </a:rPr>
              <a:t>fonctionné</a:t>
            </a:r>
            <a:r>
              <a:rPr lang="en-GB" sz="1400" b="1" dirty="0">
                <a:latin typeface="Cambria" panose="02040503050406030204" pitchFamily="18" charset="0"/>
              </a:rPr>
              <a:t> 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Le Random Forest a </a:t>
            </a:r>
            <a:r>
              <a:rPr lang="en-GB" sz="1400" dirty="0" err="1">
                <a:latin typeface="Cambria" panose="02040503050406030204" pitchFamily="18" charset="0"/>
              </a:rPr>
              <a:t>obtenu</a:t>
            </a:r>
            <a:r>
              <a:rPr lang="en-GB" sz="1400" dirty="0">
                <a:latin typeface="Cambria" panose="02040503050406030204" pitchFamily="18" charset="0"/>
              </a:rPr>
              <a:t> les </a:t>
            </a:r>
            <a:r>
              <a:rPr lang="en-GB" sz="1400" dirty="0" err="1">
                <a:latin typeface="Cambria" panose="02040503050406030204" pitchFamily="18" charset="0"/>
              </a:rPr>
              <a:t>meilleures</a:t>
            </a:r>
            <a:r>
              <a:rPr lang="en-GB" sz="1400" dirty="0">
                <a:latin typeface="Cambria" panose="02040503050406030204" pitchFamily="18" charset="0"/>
              </a:rPr>
              <a:t> performances (AUC </a:t>
            </a:r>
            <a:r>
              <a:rPr lang="en-GB" sz="1400" dirty="0" err="1">
                <a:latin typeface="Cambria" panose="02040503050406030204" pitchFamily="18" charset="0"/>
              </a:rPr>
              <a:t>d’environ</a:t>
            </a:r>
            <a:r>
              <a:rPr lang="en-GB" sz="1400" dirty="0">
                <a:latin typeface="Cambria" panose="02040503050406030204" pitchFamily="18" charset="0"/>
              </a:rPr>
              <a:t> 0,88)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Le feature engineering a </a:t>
            </a:r>
            <a:r>
              <a:rPr lang="en-GB" sz="1400" dirty="0" err="1">
                <a:latin typeface="Cambria" panose="02040503050406030204" pitchFamily="18" charset="0"/>
              </a:rPr>
              <a:t>amélioré</a:t>
            </a:r>
            <a:r>
              <a:rPr lang="en-GB" sz="1400" dirty="0">
                <a:latin typeface="Cambria" panose="02040503050406030204" pitchFamily="18" charset="0"/>
              </a:rPr>
              <a:t> la </a:t>
            </a:r>
            <a:r>
              <a:rPr lang="en-GB" sz="1400" dirty="0" err="1">
                <a:latin typeface="Cambria" panose="02040503050406030204" pitchFamily="18" charset="0"/>
              </a:rPr>
              <a:t>qualité</a:t>
            </a:r>
            <a:r>
              <a:rPr lang="en-GB" sz="1400" dirty="0">
                <a:latin typeface="Cambria" panose="02040503050406030204" pitchFamily="18" charset="0"/>
              </a:rPr>
              <a:t> des </a:t>
            </a:r>
            <a:r>
              <a:rPr lang="en-GB" sz="1400" dirty="0" err="1">
                <a:latin typeface="Cambria" panose="02040503050406030204" pitchFamily="18" charset="0"/>
              </a:rPr>
              <a:t>prédictions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La gestion du </a:t>
            </a:r>
            <a:r>
              <a:rPr lang="en-GB" sz="1400" dirty="0" err="1">
                <a:latin typeface="Cambria" panose="02040503050406030204" pitchFamily="18" charset="0"/>
              </a:rPr>
              <a:t>déséquilibre</a:t>
            </a:r>
            <a:r>
              <a:rPr lang="en-GB" sz="1400" dirty="0">
                <a:latin typeface="Cambria" panose="02040503050406030204" pitchFamily="18" charset="0"/>
              </a:rPr>
              <a:t> a </a:t>
            </a:r>
            <a:r>
              <a:rPr lang="en-GB" sz="1400" dirty="0" err="1">
                <a:latin typeface="Cambria" panose="02040503050406030204" pitchFamily="18" charset="0"/>
              </a:rPr>
              <a:t>été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efficace</a:t>
            </a:r>
            <a:endParaRPr lang="en-GB" sz="1400" dirty="0">
              <a:latin typeface="Cambria" panose="020405030504060302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BBEB33-B558-F246-8BD2-4F5830E55F47}"/>
              </a:ext>
            </a:extLst>
          </p:cNvPr>
          <p:cNvSpPr txBox="1"/>
          <p:nvPr/>
        </p:nvSpPr>
        <p:spPr>
          <a:xfrm>
            <a:off x="1988185" y="2571443"/>
            <a:ext cx="700534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400" b="1" dirty="0">
                <a:latin typeface="Cambria" panose="02040503050406030204" pitchFamily="18" charset="0"/>
              </a:rPr>
              <a:t>Ce qui a </a:t>
            </a:r>
            <a:r>
              <a:rPr lang="en-GB" sz="1400" b="1" dirty="0" err="1">
                <a:latin typeface="Cambria" panose="02040503050406030204" pitchFamily="18" charset="0"/>
              </a:rPr>
              <a:t>moins</a:t>
            </a:r>
            <a:r>
              <a:rPr lang="en-GB" sz="1400" b="1" dirty="0">
                <a:latin typeface="Cambria" panose="02040503050406030204" pitchFamily="18" charset="0"/>
              </a:rPr>
              <a:t> bien </a:t>
            </a:r>
            <a:r>
              <a:rPr lang="en-GB" sz="1400" b="1" dirty="0" err="1">
                <a:latin typeface="Cambria" panose="02040503050406030204" pitchFamily="18" charset="0"/>
              </a:rPr>
              <a:t>fonctionné</a:t>
            </a:r>
            <a:r>
              <a:rPr lang="en-GB" sz="1400" b="1" dirty="0">
                <a:latin typeface="Cambria" panose="02040503050406030204" pitchFamily="18" charset="0"/>
              </a:rPr>
              <a:t> 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La </a:t>
            </a:r>
            <a:r>
              <a:rPr lang="en-GB" sz="1400" dirty="0" err="1">
                <a:latin typeface="Cambria" panose="02040503050406030204" pitchFamily="18" charset="0"/>
              </a:rPr>
              <a:t>régression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logistique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est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limitée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Le MLP et le </a:t>
            </a:r>
            <a:r>
              <a:rPr lang="en-GB" sz="1400" dirty="0" err="1">
                <a:latin typeface="Cambria" panose="02040503050406030204" pitchFamily="18" charset="0"/>
              </a:rPr>
              <a:t>XGBoost</a:t>
            </a:r>
            <a:r>
              <a:rPr lang="en-GB" sz="1400" dirty="0">
                <a:latin typeface="Cambria" panose="02040503050406030204" pitchFamily="18" charset="0"/>
              </a:rPr>
              <a:t> ne </a:t>
            </a:r>
            <a:r>
              <a:rPr lang="en-GB" sz="1400" dirty="0" err="1">
                <a:latin typeface="Cambria" panose="02040503050406030204" pitchFamily="18" charset="0"/>
              </a:rPr>
              <a:t>sont</a:t>
            </a:r>
            <a:r>
              <a:rPr lang="en-GB" sz="1400" dirty="0">
                <a:latin typeface="Cambria" panose="02040503050406030204" pitchFamily="18" charset="0"/>
              </a:rPr>
              <a:t> pas optimal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SHAP </a:t>
            </a:r>
            <a:r>
              <a:rPr lang="en-GB" sz="1400" dirty="0" err="1">
                <a:latin typeface="Cambria" panose="02040503050406030204" pitchFamily="18" charset="0"/>
              </a:rPr>
              <a:t>est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coûteux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en</a:t>
            </a:r>
            <a:r>
              <a:rPr lang="en-GB" sz="1400" dirty="0">
                <a:latin typeface="Cambria" panose="02040503050406030204" pitchFamily="18" charset="0"/>
              </a:rPr>
              <a:t> temps de </a:t>
            </a:r>
            <a:r>
              <a:rPr lang="en-GB" sz="1400" dirty="0" err="1">
                <a:latin typeface="Cambria" panose="02040503050406030204" pitchFamily="18" charset="0"/>
              </a:rPr>
              <a:t>calcul</a:t>
            </a:r>
            <a:r>
              <a:rPr lang="en-GB" sz="1400" dirty="0">
                <a:latin typeface="Cambria" panose="02040503050406030204" pitchFamily="18" charset="0"/>
              </a:rPr>
              <a:t> avec Random Forest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7602D-0DE9-DE48-991F-FFA4912862D0}"/>
              </a:ext>
            </a:extLst>
          </p:cNvPr>
          <p:cNvSpPr txBox="1"/>
          <p:nvPr/>
        </p:nvSpPr>
        <p:spPr>
          <a:xfrm>
            <a:off x="1988185" y="3844004"/>
            <a:ext cx="700534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400" b="1" dirty="0">
                <a:latin typeface="Cambria" panose="02040503050406030204" pitchFamily="18" charset="0"/>
              </a:rPr>
              <a:t>Ce </a:t>
            </a:r>
            <a:r>
              <a:rPr lang="en-GB" sz="1400" b="1" dirty="0" err="1">
                <a:latin typeface="Cambria" panose="02040503050406030204" pitchFamily="18" charset="0"/>
              </a:rPr>
              <a:t>qu’on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b="1" dirty="0" err="1">
                <a:latin typeface="Cambria" panose="02040503050406030204" pitchFamily="18" charset="0"/>
              </a:rPr>
              <a:t>peut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b="1" dirty="0" err="1">
                <a:latin typeface="Cambria" panose="02040503050406030204" pitchFamily="18" charset="0"/>
              </a:rPr>
              <a:t>retenir</a:t>
            </a:r>
            <a:r>
              <a:rPr lang="en-GB" sz="1400" b="1" dirty="0">
                <a:latin typeface="Cambria" panose="02040503050406030204" pitchFamily="18" charset="0"/>
              </a:rPr>
              <a:t> 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 err="1">
                <a:latin typeface="Cambria" panose="02040503050406030204" pitchFamily="18" charset="0"/>
              </a:rPr>
              <a:t>L’historique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paiement</a:t>
            </a:r>
            <a:r>
              <a:rPr lang="en-GB" sz="1400" dirty="0">
                <a:latin typeface="Cambria" panose="02040503050406030204" pitchFamily="18" charset="0"/>
              </a:rPr>
              <a:t> (variables PAY) </a:t>
            </a:r>
            <a:r>
              <a:rPr lang="en-GB" sz="1400" dirty="0" err="1">
                <a:latin typeface="Cambria" panose="02040503050406030204" pitchFamily="18" charset="0"/>
              </a:rPr>
              <a:t>est</a:t>
            </a:r>
            <a:r>
              <a:rPr lang="en-GB" sz="1400" dirty="0">
                <a:latin typeface="Cambria" panose="02040503050406030204" pitchFamily="18" charset="0"/>
              </a:rPr>
              <a:t> le </a:t>
            </a:r>
            <a:r>
              <a:rPr lang="en-GB" sz="1400" dirty="0" err="1">
                <a:latin typeface="Cambria" panose="02040503050406030204" pitchFamily="18" charset="0"/>
              </a:rPr>
              <a:t>facteur</a:t>
            </a:r>
            <a:r>
              <a:rPr lang="en-GB" sz="1400" dirty="0">
                <a:latin typeface="Cambria" panose="02040503050406030204" pitchFamily="18" charset="0"/>
              </a:rPr>
              <a:t> le plus </a:t>
            </a:r>
            <a:r>
              <a:rPr lang="en-GB" sz="1400" dirty="0" err="1">
                <a:latin typeface="Cambria" panose="02040503050406030204" pitchFamily="18" charset="0"/>
              </a:rPr>
              <a:t>déterminant</a:t>
            </a:r>
            <a:endParaRPr lang="en-GB" sz="1400" dirty="0">
              <a:latin typeface="Cambria" panose="02040503050406030204" pitchFamily="18" charset="0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Les variables </a:t>
            </a:r>
            <a:r>
              <a:rPr lang="en-GB" sz="1400" dirty="0" err="1">
                <a:latin typeface="Cambria" panose="02040503050406030204" pitchFamily="18" charset="0"/>
              </a:rPr>
              <a:t>comportementales</a:t>
            </a:r>
            <a:r>
              <a:rPr lang="en-GB" sz="1400" dirty="0">
                <a:latin typeface="Cambria" panose="02040503050406030204" pitchFamily="18" charset="0"/>
              </a:rPr>
              <a:t> </a:t>
            </a:r>
            <a:r>
              <a:rPr lang="en-GB" sz="1400" dirty="0" err="1">
                <a:latin typeface="Cambria" panose="02040503050406030204" pitchFamily="18" charset="0"/>
              </a:rPr>
              <a:t>sont</a:t>
            </a:r>
            <a:r>
              <a:rPr lang="en-GB" sz="1400" dirty="0">
                <a:latin typeface="Cambria" panose="02040503050406030204" pitchFamily="18" charset="0"/>
              </a:rPr>
              <a:t> plus </a:t>
            </a:r>
            <a:r>
              <a:rPr lang="en-GB" sz="1400" dirty="0" err="1">
                <a:latin typeface="Cambria" panose="02040503050406030204" pitchFamily="18" charset="0"/>
              </a:rPr>
              <a:t>prédictives</a:t>
            </a:r>
            <a:r>
              <a:rPr lang="en-GB" sz="1400" dirty="0">
                <a:latin typeface="Cambria" panose="02040503050406030204" pitchFamily="18" charset="0"/>
              </a:rPr>
              <a:t> que les variables </a:t>
            </a:r>
            <a:r>
              <a:rPr lang="en-GB" sz="1400" dirty="0" err="1">
                <a:latin typeface="Cambria" panose="02040503050406030204" pitchFamily="18" charset="0"/>
              </a:rPr>
              <a:t>démographiques</a:t>
            </a:r>
            <a:endParaRPr lang="en-GB" sz="1400" dirty="0">
              <a:latin typeface="Cambria" panose="020405030504060302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205D1-7E93-4146-B2D8-BEC5CED3AD8B}"/>
              </a:ext>
            </a:extLst>
          </p:cNvPr>
          <p:cNvSpPr txBox="1"/>
          <p:nvPr/>
        </p:nvSpPr>
        <p:spPr>
          <a:xfrm>
            <a:off x="1988185" y="5116564"/>
            <a:ext cx="7005344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400" b="1" dirty="0">
                <a:latin typeface="Cambria" panose="02040503050406030204" pitchFamily="18" charset="0"/>
              </a:rPr>
              <a:t>Ce </a:t>
            </a:r>
            <a:r>
              <a:rPr lang="en-GB" sz="1400" b="1" dirty="0" err="1">
                <a:latin typeface="Cambria" panose="02040503050406030204" pitchFamily="18" charset="0"/>
              </a:rPr>
              <a:t>qu’on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b="1" dirty="0" err="1">
                <a:latin typeface="Cambria" panose="02040503050406030204" pitchFamily="18" charset="0"/>
              </a:rPr>
              <a:t>peut</a:t>
            </a:r>
            <a:r>
              <a:rPr lang="en-GB" sz="1400" b="1" dirty="0">
                <a:latin typeface="Cambria" panose="02040503050406030204" pitchFamily="18" charset="0"/>
              </a:rPr>
              <a:t> </a:t>
            </a:r>
            <a:r>
              <a:rPr lang="en-GB" sz="1400" b="1" dirty="0" err="1">
                <a:latin typeface="Cambria" panose="02040503050406030204" pitchFamily="18" charset="0"/>
              </a:rPr>
              <a:t>améliorer</a:t>
            </a:r>
            <a:r>
              <a:rPr lang="en-GB" sz="1400" b="1" dirty="0">
                <a:latin typeface="Cambria" panose="02040503050406030204" pitchFamily="18" charset="0"/>
              </a:rPr>
              <a:t> 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 err="1">
                <a:latin typeface="Cambria" panose="02040503050406030204" pitchFamily="18" charset="0"/>
              </a:rPr>
              <a:t>Création</a:t>
            </a:r>
            <a:r>
              <a:rPr lang="en-GB" sz="1400" dirty="0">
                <a:latin typeface="Cambria" panose="02040503050406030204" pitchFamily="18" charset="0"/>
              </a:rPr>
              <a:t> de </a:t>
            </a:r>
            <a:r>
              <a:rPr lang="en-GB" sz="1400" dirty="0" err="1">
                <a:latin typeface="Cambria" panose="02040503050406030204" pitchFamily="18" charset="0"/>
              </a:rPr>
              <a:t>nouvelles</a:t>
            </a:r>
            <a:r>
              <a:rPr lang="en-GB" sz="1400" dirty="0">
                <a:latin typeface="Cambria" panose="02040503050406030204" pitchFamily="18" charset="0"/>
              </a:rPr>
              <a:t> variables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GB" sz="1400" dirty="0">
                <a:latin typeface="Cambria" panose="02040503050406030204" pitchFamily="18" charset="0"/>
              </a:rPr>
              <a:t>Tester des </a:t>
            </a:r>
            <a:r>
              <a:rPr lang="en-GB" sz="1400" dirty="0" err="1">
                <a:latin typeface="Cambria" panose="02040503050406030204" pitchFamily="18" charset="0"/>
              </a:rPr>
              <a:t>modèles</a:t>
            </a:r>
            <a:r>
              <a:rPr lang="en-GB" sz="1400" dirty="0">
                <a:latin typeface="Cambria" panose="02040503050406030204" pitchFamily="18" charset="0"/>
              </a:rPr>
              <a:t> plus </a:t>
            </a:r>
            <a:r>
              <a:rPr lang="en-GB" sz="1400" dirty="0" err="1">
                <a:latin typeface="Cambria" panose="02040503050406030204" pitchFamily="18" charset="0"/>
              </a:rPr>
              <a:t>avancés</a:t>
            </a:r>
            <a:endParaRPr lang="en-GB" sz="1400" dirty="0">
              <a:latin typeface="Cambria" panose="020405030504060302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F2248F-5A4D-6D45-B3C0-9FD8236B0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060" y="1650570"/>
            <a:ext cx="356400" cy="35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4C8380-EF41-134A-849D-C2AF2C227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060" y="2924157"/>
            <a:ext cx="356400" cy="356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A21594B-F220-BA42-8A44-BC88C7D3B2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060" y="4197744"/>
            <a:ext cx="356400" cy="356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70B563-72EE-084B-AA7C-02625D524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60" y="5361557"/>
            <a:ext cx="356400" cy="35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33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430</Words>
  <Application>Microsoft Macintosh PowerPoint</Application>
  <PresentationFormat>Widescreen</PresentationFormat>
  <Paragraphs>53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Tanguy CONVERSET</dc:creator>
  <cp:lastModifiedBy>Tanguy CONVERSET</cp:lastModifiedBy>
  <cp:revision>59</cp:revision>
  <dcterms:created xsi:type="dcterms:W3CDTF">2026-04-15T14:57:50Z</dcterms:created>
  <dcterms:modified xsi:type="dcterms:W3CDTF">2026-04-18T22:02:54Z</dcterms:modified>
</cp:coreProperties>
</file>